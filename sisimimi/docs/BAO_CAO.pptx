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73736" cy="6858000"/>
          </a:xfrm>
          <a:prstGeom prst="rect">
            <a:avLst/>
          </a:prstGeom>
          <a:solidFill>
            <a:srgbClr val="FFD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65760"/>
            <a:ext cx="99669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100" b="1">
                <a:solidFill>
                  <a:srgbClr val="D95A87"/>
                </a:solidFill>
                <a:latin typeface="Arial"/>
              </a:defRPr>
            </a:pPr>
            <a:r>
              <a:t>ĐỒ ÁN GIAO DIỆN WEBSITE • HTML / CSS / 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96012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3200" b="1">
                <a:solidFill>
                  <a:srgbClr val="49343D"/>
                </a:solidFill>
                <a:latin typeface="Arial"/>
              </a:defRPr>
            </a:pPr>
            <a:r>
              <a:t>sisimimi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6345936"/>
            <a:ext cx="10972800" cy="18288"/>
          </a:xfrm>
          <a:prstGeom prst="rect">
            <a:avLst/>
          </a:prstGeom>
          <a:solidFill>
            <a:srgbClr val="FFD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492240"/>
            <a:ext cx="91440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765C67"/>
                </a:solidFill>
                <a:latin typeface="Arial"/>
              </a:defRPr>
            </a:pPr>
            <a:r>
              <a:t>sisimimi  /  Thế giới nhỏ dành cho bé yêu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2823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200" b="1">
                <a:solidFill>
                  <a:srgbClr val="D95A87"/>
                </a:solidFill>
                <a:latin typeface="Arial"/>
              </a:defRPr>
            </a:pPr>
            <a: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938528"/>
            <a:ext cx="64008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3600" b="1">
                <a:solidFill>
                  <a:srgbClr val="49343D"/>
                </a:solidFill>
                <a:latin typeface="Arial"/>
              </a:defRPr>
            </a:pPr>
            <a:r>
              <a:t>Thế giới nhỏ</a:t>
            </a:r>
          </a:p>
          <a:p>
            <a:pPr>
              <a:spcAft>
                <a:spcPts val="1200"/>
              </a:spcAft>
              <a:defRPr sz="3600" b="1">
                <a:solidFill>
                  <a:srgbClr val="49343D"/>
                </a:solidFill>
                <a:latin typeface="Arial"/>
              </a:defRPr>
            </a:pPr>
            <a:r>
              <a:t>dành cho bé yêu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611880"/>
            <a:ext cx="6400800" cy="10789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2200" b="0">
                <a:solidFill>
                  <a:srgbClr val="765C67"/>
                </a:solidFill>
                <a:latin typeface="Arial"/>
              </a:defRPr>
            </a:pPr>
            <a:r>
              <a:t>Website đồ dùng và phụ kiện cho chó, mèo</a:t>
            </a:r>
          </a:p>
          <a:p>
            <a:pPr>
              <a:spcAft>
                <a:spcPts val="1200"/>
              </a:spcAft>
              <a:defRPr sz="2200" b="0">
                <a:solidFill>
                  <a:srgbClr val="765C67"/>
                </a:solidFill>
                <a:latin typeface="Arial"/>
              </a:defRPr>
            </a:pPr>
            <a:r>
              <a:t>11 trang HTML • Giao diện hồng pastel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5138928"/>
            <a:ext cx="6858000" cy="530352"/>
          </a:xfrm>
          <a:prstGeom prst="roundRect">
            <a:avLst/>
          </a:prstGeom>
          <a:solidFill>
            <a:srgbClr val="FFD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5248656"/>
            <a:ext cx="64008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600" b="0">
                <a:solidFill>
                  <a:srgbClr val="49343D"/>
                </a:solidFill>
                <a:latin typeface="Arial"/>
              </a:defRPr>
            </a:pPr>
            <a:r>
              <a:t>Nhóm: ______   Lớp: ______   Giảng viên: ______</a:t>
            </a:r>
          </a:p>
        </p:txBody>
      </p:sp>
      <p:sp>
        <p:nvSpPr>
          <p:cNvPr id="12" name="Oval 11"/>
          <p:cNvSpPr/>
          <p:nvPr/>
        </p:nvSpPr>
        <p:spPr>
          <a:xfrm>
            <a:off x="8793784" y="2952597"/>
            <a:ext cx="1286560" cy="960120"/>
          </a:xfrm>
          <a:prstGeom prst="ellipse">
            <a:avLst/>
          </a:prstGeom>
          <a:solidFill>
            <a:srgbClr val="D95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275320" y="2395728"/>
            <a:ext cx="537667" cy="672084"/>
          </a:xfrm>
          <a:prstGeom prst="ellipse">
            <a:avLst/>
          </a:prstGeom>
          <a:solidFill>
            <a:srgbClr val="D95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889796" y="2011680"/>
            <a:ext cx="518464" cy="691286"/>
          </a:xfrm>
          <a:prstGeom prst="ellipse">
            <a:avLst/>
          </a:prstGeom>
          <a:solidFill>
            <a:srgbClr val="D95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600285" y="2069287"/>
            <a:ext cx="518464" cy="691286"/>
          </a:xfrm>
          <a:prstGeom prst="ellipse">
            <a:avLst/>
          </a:prstGeom>
          <a:solidFill>
            <a:srgbClr val="D95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0195560" y="2453335"/>
            <a:ext cx="518464" cy="672084"/>
          </a:xfrm>
          <a:prstGeom prst="ellipse">
            <a:avLst/>
          </a:prstGeom>
          <a:solidFill>
            <a:srgbClr val="D95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73736" cy="6858000"/>
          </a:xfrm>
          <a:prstGeom prst="rect">
            <a:avLst/>
          </a:prstGeom>
          <a:solidFill>
            <a:srgbClr val="FFD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65760"/>
            <a:ext cx="99669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100" b="1">
                <a:solidFill>
                  <a:srgbClr val="D95A87"/>
                </a:solidFill>
                <a:latin typeface="Arial"/>
              </a:defRPr>
            </a:pPr>
            <a:r>
              <a:t>BÀI TẬP NHÓM • THIẾT KẾ WEB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96012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3200" b="1">
                <a:solidFill>
                  <a:srgbClr val="49343D"/>
                </a:solidFill>
                <a:latin typeface="Arial"/>
              </a:defRPr>
            </a:pPr>
            <a:r>
              <a:t>Một cửa hàng nhỏ cho những người bạn nhỏ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6345936"/>
            <a:ext cx="10972800" cy="18288"/>
          </a:xfrm>
          <a:prstGeom prst="rect">
            <a:avLst/>
          </a:prstGeom>
          <a:solidFill>
            <a:srgbClr val="FFD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492240"/>
            <a:ext cx="91440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765C67"/>
                </a:solidFill>
                <a:latin typeface="Arial"/>
              </a:defRPr>
            </a:pPr>
            <a:r>
              <a:t>sisimimi  /  Thế giới nhỏ dành cho bé yêu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2823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200" b="1">
                <a:solidFill>
                  <a:srgbClr val="D95A87"/>
                </a:solidFill>
                <a:latin typeface="Arial"/>
              </a:defRPr>
            </a:pPr>
            <a:r>
              <a:t>02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2057400"/>
            <a:ext cx="3502152" cy="359359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313432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2100" b="1">
                <a:solidFill>
                  <a:srgbClr val="D95A87"/>
                </a:solidFill>
                <a:latin typeface="Arial"/>
              </a:defRPr>
            </a:pPr>
            <a:r>
              <a:t>Đề tài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953512"/>
            <a:ext cx="3017520" cy="2331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900" b="0">
                <a:solidFill>
                  <a:srgbClr val="49343D"/>
                </a:solidFill>
                <a:latin typeface="Arial"/>
              </a:defRPr>
            </a:pPr>
            <a:r>
              <a:t>Đồ dùng, thức ăn, quần áo và phụ kiện dành cho chó, mèo.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06824" y="2057400"/>
            <a:ext cx="3502152" cy="359359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35424" y="2313432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2100" b="1">
                <a:solidFill>
                  <a:srgbClr val="D95A87"/>
                </a:solidFill>
                <a:latin typeface="Arial"/>
              </a:defRPr>
            </a:pPr>
            <a:r>
              <a:t>Người dùng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35424" y="2953512"/>
            <a:ext cx="3017520" cy="2331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900" b="0">
                <a:solidFill>
                  <a:srgbClr val="49343D"/>
                </a:solidFill>
                <a:latin typeface="Arial"/>
              </a:defRPr>
            </a:pPr>
            <a:r>
              <a:t>Người yêu thú cưng muốn tìm sản phẩm và tham khảo nội dung chăm sóc.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19288" y="2057400"/>
            <a:ext cx="3502152" cy="359359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47888" y="2313432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2100" b="1">
                <a:solidFill>
                  <a:srgbClr val="D95A87"/>
                </a:solidFill>
                <a:latin typeface="Arial"/>
              </a:defRPr>
            </a:pPr>
            <a:r>
              <a:t>Trải nghiệm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47888" y="2953512"/>
            <a:ext cx="3017520" cy="2331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900" b="0">
                <a:solidFill>
                  <a:srgbClr val="49343D"/>
                </a:solidFill>
                <a:latin typeface="Arial"/>
              </a:defRPr>
            </a:pPr>
            <a:r>
              <a:t>Xem sản phẩm → chọn số lượng → giỏ hàng → xác nhận mô phỏng.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73736" cy="6858000"/>
          </a:xfrm>
          <a:prstGeom prst="rect">
            <a:avLst/>
          </a:prstGeom>
          <a:solidFill>
            <a:srgbClr val="FFD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65760"/>
            <a:ext cx="99669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100" b="1">
                <a:solidFill>
                  <a:srgbClr val="D95A87"/>
                </a:solidFill>
                <a:latin typeface="Arial"/>
              </a:defRPr>
            </a:pPr>
            <a:r>
              <a:t>BÀI TẬP NHÓM • THIẾT KẾ WEB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96012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3200" b="1">
                <a:solidFill>
                  <a:srgbClr val="49343D"/>
                </a:solidFill>
                <a:latin typeface="Arial"/>
              </a:defRPr>
            </a:pPr>
            <a:r>
              <a:t>Vì sao nhóm chọn sisimimi?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6345936"/>
            <a:ext cx="10972800" cy="18288"/>
          </a:xfrm>
          <a:prstGeom prst="rect">
            <a:avLst/>
          </a:prstGeom>
          <a:solidFill>
            <a:srgbClr val="FFD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492240"/>
            <a:ext cx="91440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765C67"/>
                </a:solidFill>
                <a:latin typeface="Arial"/>
              </a:defRPr>
            </a:pPr>
            <a:r>
              <a:t>sisimimi  /  Thế giới nhỏ dành cho bé yêu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2823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200" b="1">
                <a:solidFill>
                  <a:srgbClr val="D95A87"/>
                </a:solidFill>
                <a:latin typeface="Arial"/>
              </a:defRPr>
            </a:pPr>
            <a:r>
              <a:t>03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130552"/>
            <a:ext cx="109728" cy="109728"/>
          </a:xfrm>
          <a:prstGeom prst="roundRect">
            <a:avLst/>
          </a:prstGeom>
          <a:solidFill>
            <a:srgbClr val="D95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2416" y="2057400"/>
            <a:ext cx="10296144" cy="6675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2300" b="0">
                <a:solidFill>
                  <a:srgbClr val="49343D"/>
                </a:solidFill>
                <a:latin typeface="Arial"/>
              </a:defRPr>
            </a:pPr>
            <a:r>
              <a:t>Chủ đề gần gũi, phù hợp dữ liệu và hình minh họa mẫu.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935224"/>
            <a:ext cx="109728" cy="109728"/>
          </a:xfrm>
          <a:prstGeom prst="roundRect">
            <a:avLst/>
          </a:prstGeom>
          <a:solidFill>
            <a:srgbClr val="D95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2416" y="2862072"/>
            <a:ext cx="10296144" cy="6675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2300" b="0">
                <a:solidFill>
                  <a:srgbClr val="49343D"/>
                </a:solidFill>
                <a:latin typeface="Arial"/>
              </a:defRPr>
            </a:pPr>
            <a:r>
              <a:t>Một bài toán thực hành đầy đủ danh sách, chi tiết và biểu mẫu.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739896"/>
            <a:ext cx="109728" cy="109728"/>
          </a:xfrm>
          <a:prstGeom prst="roundRect">
            <a:avLst/>
          </a:prstGeom>
          <a:solidFill>
            <a:srgbClr val="D95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42416" y="3666744"/>
            <a:ext cx="10296144" cy="6675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2300" b="0">
                <a:solidFill>
                  <a:srgbClr val="49343D"/>
                </a:solidFill>
                <a:latin typeface="Arial"/>
              </a:defRPr>
            </a:pPr>
            <a:r>
              <a:t>Màu hồng pastel thể hiện phong cách nhẹ nhàng, trẻ trung.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544568"/>
            <a:ext cx="109728" cy="109728"/>
          </a:xfrm>
          <a:prstGeom prst="roundRect">
            <a:avLst/>
          </a:prstGeom>
          <a:solidFill>
            <a:srgbClr val="D95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42416" y="4471416"/>
            <a:ext cx="10296144" cy="6675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2300" b="0">
                <a:solidFill>
                  <a:srgbClr val="49343D"/>
                </a:solidFill>
                <a:latin typeface="Arial"/>
              </a:defRPr>
            </a:pPr>
            <a:r>
              <a:t>Dễ phân chia công việc và giải thích nền tảng lập trình web.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73736" cy="6858000"/>
          </a:xfrm>
          <a:prstGeom prst="rect">
            <a:avLst/>
          </a:prstGeom>
          <a:solidFill>
            <a:srgbClr val="FFD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65760"/>
            <a:ext cx="99669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100" b="1">
                <a:solidFill>
                  <a:srgbClr val="D95A87"/>
                </a:solidFill>
                <a:latin typeface="Arial"/>
              </a:defRPr>
            </a:pPr>
            <a:r>
              <a:t>BÀI TẬP NHÓM • THIẾT KẾ WEB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96012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3200" b="1">
                <a:solidFill>
                  <a:srgbClr val="49343D"/>
                </a:solidFill>
                <a:latin typeface="Arial"/>
              </a:defRPr>
            </a:pPr>
            <a:r>
              <a:t>Mục tiêu rõ ràng, phạm vi vừa sức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6345936"/>
            <a:ext cx="10972800" cy="18288"/>
          </a:xfrm>
          <a:prstGeom prst="rect">
            <a:avLst/>
          </a:prstGeom>
          <a:solidFill>
            <a:srgbClr val="FFD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492240"/>
            <a:ext cx="91440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765C67"/>
                </a:solidFill>
                <a:latin typeface="Arial"/>
              </a:defRPr>
            </a:pPr>
            <a:r>
              <a:t>sisimimi  /  Thế giới nhỏ dành cho bé yêu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2823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200" b="1">
                <a:solidFill>
                  <a:srgbClr val="D95A87"/>
                </a:solidFill>
                <a:latin typeface="Arial"/>
              </a:defRPr>
            </a:pPr>
            <a:r>
              <a:t>04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2057400"/>
            <a:ext cx="3502152" cy="359359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313432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2100" b="1">
                <a:solidFill>
                  <a:srgbClr val="D95A87"/>
                </a:solidFill>
                <a:latin typeface="Arial"/>
              </a:defRPr>
            </a:pPr>
            <a:r>
              <a:t>11 trang riêng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953512"/>
            <a:ext cx="3017520" cy="2331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900" b="0">
                <a:solidFill>
                  <a:srgbClr val="49343D"/>
                </a:solidFill>
                <a:latin typeface="Arial"/>
              </a:defRPr>
            </a:pPr>
            <a:r>
              <a:t>Mỗi trang là một tệp HTML có nội dung, tiêu đề và nhiệm vụ riêng.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06824" y="2057400"/>
            <a:ext cx="3502152" cy="359359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35424" y="2313432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2100" b="1">
                <a:solidFill>
                  <a:srgbClr val="D95A87"/>
                </a:solidFill>
                <a:latin typeface="Arial"/>
              </a:defRPr>
            </a:pPr>
            <a:r>
              <a:t>Tương tác cơ bản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35424" y="2953512"/>
            <a:ext cx="3017520" cy="2331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900" b="0">
                <a:solidFill>
                  <a:srgbClr val="49343D"/>
                </a:solidFill>
                <a:latin typeface="Arial"/>
              </a:defRPr>
            </a:pPr>
            <a:r>
              <a:t>Tìm/lọc, chi tiết theo ID, giỏ hàng dùng chung và kiểm tra biểu mẫu.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19288" y="2057400"/>
            <a:ext cx="3502152" cy="359359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47888" y="2313432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2100" b="1">
                <a:solidFill>
                  <a:srgbClr val="D95A87"/>
                </a:solidFill>
                <a:latin typeface="Arial"/>
              </a:defRPr>
            </a:pPr>
            <a:r>
              <a:t>Phạm vi bài tập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47888" y="2953512"/>
            <a:ext cx="3017520" cy="2331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900" b="0">
                <a:solidFill>
                  <a:srgbClr val="49343D"/>
                </a:solidFill>
                <a:latin typeface="Arial"/>
              </a:defRPr>
            </a:pPr>
            <a:r>
              <a:t>Không database, xác thực, email hoặc thanh toán thật; mọi luồng gửi đều mô phỏng.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73736" cy="6858000"/>
          </a:xfrm>
          <a:prstGeom prst="rect">
            <a:avLst/>
          </a:prstGeom>
          <a:solidFill>
            <a:srgbClr val="FFD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65760"/>
            <a:ext cx="99669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100" b="1">
                <a:solidFill>
                  <a:srgbClr val="D95A87"/>
                </a:solidFill>
                <a:latin typeface="Arial"/>
              </a:defRPr>
            </a:pPr>
            <a:r>
              <a:t>BÀI TẬP NHÓM • THIẾT KẾ WEB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96012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3200" b="1">
                <a:solidFill>
                  <a:srgbClr val="49343D"/>
                </a:solidFill>
                <a:latin typeface="Arial"/>
              </a:defRPr>
            </a:pPr>
            <a:r>
              <a:t>Ba công nghệ, ba vai trò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6345936"/>
            <a:ext cx="10972800" cy="18288"/>
          </a:xfrm>
          <a:prstGeom prst="rect">
            <a:avLst/>
          </a:prstGeom>
          <a:solidFill>
            <a:srgbClr val="FFD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492240"/>
            <a:ext cx="91440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765C67"/>
                </a:solidFill>
                <a:latin typeface="Arial"/>
              </a:defRPr>
            </a:pPr>
            <a:r>
              <a:t>sisimimi  /  Thế giới nhỏ dành cho bé yêu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2823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200" b="1">
                <a:solidFill>
                  <a:srgbClr val="D95A87"/>
                </a:solidFill>
                <a:latin typeface="Arial"/>
              </a:defRPr>
            </a:pPr>
            <a:r>
              <a:t>05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2057400"/>
            <a:ext cx="3502152" cy="359359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313432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2100" b="1">
                <a:solidFill>
                  <a:srgbClr val="D95A87"/>
                </a:solidFill>
                <a:latin typeface="Arial"/>
              </a:defRPr>
            </a:pPr>
            <a:r>
              <a:t>HTML5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953512"/>
            <a:ext cx="3017520" cy="2331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900" b="0">
                <a:solidFill>
                  <a:srgbClr val="49343D"/>
                </a:solidFill>
                <a:latin typeface="Arial"/>
              </a:defRPr>
            </a:pPr>
            <a:r>
              <a:t>Cấu trúc nội dung</a:t>
            </a:r>
          </a:p>
          <a:p>
            <a:pPr>
              <a:spcAft>
                <a:spcPts val="1200"/>
              </a:spcAft>
              <a:defRPr sz="1900" b="0">
                <a:solidFill>
                  <a:srgbClr val="49343D"/>
                </a:solidFill>
                <a:latin typeface="Arial"/>
              </a:defRPr>
            </a:pPr>
            <a:r>
              <a:t>header · nav · main</a:t>
            </a:r>
          </a:p>
          <a:p>
            <a:pPr>
              <a:spcAft>
                <a:spcPts val="1200"/>
              </a:spcAft>
              <a:defRPr sz="1900" b="0">
                <a:solidFill>
                  <a:srgbClr val="49343D"/>
                </a:solidFill>
                <a:latin typeface="Arial"/>
              </a:defRPr>
            </a:pPr>
            <a:r>
              <a:t>section · article · form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06824" y="2057400"/>
            <a:ext cx="3502152" cy="359359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35424" y="2313432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2100" b="1">
                <a:solidFill>
                  <a:srgbClr val="D95A87"/>
                </a:solidFill>
                <a:latin typeface="Arial"/>
              </a:defRPr>
            </a:pPr>
            <a:r>
              <a:t>CSS3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35424" y="2953512"/>
            <a:ext cx="3017520" cy="2331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900" b="0">
                <a:solidFill>
                  <a:srgbClr val="49343D"/>
                </a:solidFill>
                <a:latin typeface="Arial"/>
              </a:defRPr>
            </a:pPr>
            <a:r>
              <a:t>Màu sắc và bố cục</a:t>
            </a:r>
          </a:p>
          <a:p>
            <a:pPr>
              <a:spcAft>
                <a:spcPts val="1200"/>
              </a:spcAft>
              <a:defRPr sz="1900" b="0">
                <a:solidFill>
                  <a:srgbClr val="49343D"/>
                </a:solidFill>
                <a:latin typeface="Arial"/>
              </a:defRPr>
            </a:pPr>
            <a:r>
              <a:t>Flexbox · Grid</a:t>
            </a:r>
          </a:p>
          <a:p>
            <a:pPr>
              <a:spcAft>
                <a:spcPts val="1200"/>
              </a:spcAft>
              <a:defRPr sz="1900" b="0">
                <a:solidFill>
                  <a:srgbClr val="49343D"/>
                </a:solidFill>
                <a:latin typeface="Arial"/>
              </a:defRPr>
            </a:pPr>
            <a:r>
              <a:t>Responsive · transition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19288" y="2057400"/>
            <a:ext cx="3502152" cy="359359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47888" y="2313432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2100" b="1">
                <a:solidFill>
                  <a:srgbClr val="D95A87"/>
                </a:solidFill>
                <a:latin typeface="Arial"/>
              </a:defRPr>
            </a:pPr>
            <a:r>
              <a:t>JavaScript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47888" y="2953512"/>
            <a:ext cx="3017520" cy="2331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900" b="0">
                <a:solidFill>
                  <a:srgbClr val="49343D"/>
                </a:solidFill>
                <a:latin typeface="Arial"/>
              </a:defRPr>
            </a:pPr>
            <a:r>
              <a:t>Hành vi ở trình duyệt</a:t>
            </a:r>
          </a:p>
          <a:p>
            <a:pPr>
              <a:spcAft>
                <a:spcPts val="1200"/>
              </a:spcAft>
              <a:defRPr sz="1900" b="0">
                <a:solidFill>
                  <a:srgbClr val="49343D"/>
                </a:solidFill>
                <a:latin typeface="Arial"/>
              </a:defRPr>
            </a:pPr>
            <a:r>
              <a:t>Sự kiện · mảng/object</a:t>
            </a:r>
          </a:p>
          <a:p>
            <a:pPr>
              <a:spcAft>
                <a:spcPts val="1200"/>
              </a:spcAft>
              <a:defRPr sz="1900" b="0">
                <a:solidFill>
                  <a:srgbClr val="49343D"/>
                </a:solidFill>
                <a:latin typeface="Arial"/>
              </a:defRPr>
            </a:pPr>
            <a:r>
              <a:t>URL ID · localStorage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73736" cy="6858000"/>
          </a:xfrm>
          <a:prstGeom prst="rect">
            <a:avLst/>
          </a:prstGeom>
          <a:solidFill>
            <a:srgbClr val="FFD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65760"/>
            <a:ext cx="99669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100" b="1">
                <a:solidFill>
                  <a:srgbClr val="D95A87"/>
                </a:solidFill>
                <a:latin typeface="Arial"/>
              </a:defRPr>
            </a:pPr>
            <a:r>
              <a:t>BÀI TẬP NHÓM • THIẾT KẾ WEB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96012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3200" b="1">
                <a:solidFill>
                  <a:srgbClr val="49343D"/>
                </a:solidFill>
                <a:latin typeface="Arial"/>
              </a:defRPr>
            </a:pPr>
            <a:r>
              <a:t>Cấu trúc thư mục dễ tìm, dễ sửa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6345936"/>
            <a:ext cx="10972800" cy="18288"/>
          </a:xfrm>
          <a:prstGeom prst="rect">
            <a:avLst/>
          </a:prstGeom>
          <a:solidFill>
            <a:srgbClr val="FFD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492240"/>
            <a:ext cx="91440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765C67"/>
                </a:solidFill>
                <a:latin typeface="Arial"/>
              </a:defRPr>
            </a:pPr>
            <a:r>
              <a:t>sisimimi  /  Thế giới nhỏ dành cho bé yêu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2823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200" b="1">
                <a:solidFill>
                  <a:srgbClr val="D95A87"/>
                </a:solidFill>
                <a:latin typeface="Arial"/>
              </a:defRPr>
            </a:pPr>
            <a:r>
              <a:t>06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938528"/>
            <a:ext cx="4754880" cy="3977639"/>
          </a:xfrm>
          <a:prstGeom prst="roundRect">
            <a:avLst/>
          </a:prstGeom>
          <a:solidFill>
            <a:srgbClr val="4934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176272"/>
            <a:ext cx="4251960" cy="3474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2200" b="0">
                <a:solidFill>
                  <a:srgbClr val="FFFFFF"/>
                </a:solidFill>
                <a:latin typeface="Arial"/>
              </a:defRPr>
            </a:pPr>
            <a:r>
              <a:t>sisimimi/</a:t>
            </a:r>
          </a:p>
          <a:p>
            <a:pPr>
              <a:spcAft>
                <a:spcPts val="1200"/>
              </a:spcAft>
              <a:defRPr sz="2200" b="0">
                <a:solidFill>
                  <a:srgbClr val="FFFFFF"/>
                </a:solidFill>
                <a:latin typeface="Arial"/>
              </a:defRPr>
            </a:pPr>
            <a:r>
              <a:t>  11 tệp HTML</a:t>
            </a:r>
          </a:p>
          <a:p>
            <a:pPr>
              <a:spcAft>
                <a:spcPts val="1200"/>
              </a:spcAft>
              <a:defRPr sz="2200" b="0">
                <a:solidFill>
                  <a:srgbClr val="FFFFFF"/>
                </a:solidFill>
                <a:latin typeface="Arial"/>
              </a:defRPr>
            </a:pPr>
            <a:r>
              <a:t>  css/style.css</a:t>
            </a:r>
          </a:p>
          <a:p>
            <a:pPr>
              <a:spcAft>
                <a:spcPts val="1200"/>
              </a:spcAft>
              <a:defRPr sz="2200" b="0">
                <a:solidFill>
                  <a:srgbClr val="FFFFFF"/>
                </a:solidFill>
                <a:latin typeface="Arial"/>
              </a:defRPr>
            </a:pPr>
            <a:r>
              <a:t>  js/script.js</a:t>
            </a:r>
          </a:p>
          <a:p>
            <a:pPr>
              <a:spcAft>
                <a:spcPts val="1200"/>
              </a:spcAft>
              <a:defRPr sz="2200" b="0">
                <a:solidFill>
                  <a:srgbClr val="FFFFFF"/>
                </a:solidFill>
                <a:latin typeface="Arial"/>
              </a:defRPr>
            </a:pPr>
            <a:r>
              <a:t>  images/</a:t>
            </a:r>
          </a:p>
          <a:p>
            <a:pPr>
              <a:spcAft>
                <a:spcPts val="1200"/>
              </a:spcAft>
              <a:defRPr sz="2200" b="0">
                <a:solidFill>
                  <a:srgbClr val="FFFFFF"/>
                </a:solidFill>
                <a:latin typeface="Arial"/>
              </a:defRPr>
            </a:pPr>
            <a:r>
              <a:t>  docs/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06440" y="2103120"/>
            <a:ext cx="5577840" cy="3566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2100" b="0">
                <a:solidFill>
                  <a:srgbClr val="49343D"/>
                </a:solidFill>
                <a:latin typeface="Arial"/>
              </a:defRPr>
            </a:pPr>
            <a:r>
              <a:t>HTML: nội dung riêng từng trang.</a:t>
            </a:r>
          </a:p>
          <a:p>
            <a:pPr>
              <a:spcAft>
                <a:spcPts val="1200"/>
              </a:spcAft>
              <a:defRPr sz="2100" b="0">
                <a:solidFill>
                  <a:srgbClr val="49343D"/>
                </a:solidFill>
                <a:latin typeface="Arial"/>
              </a:defRPr>
            </a:pPr>
            <a:r>
              <a:t>CSS: giao diện chung toàn website.</a:t>
            </a:r>
          </a:p>
          <a:p>
            <a:pPr>
              <a:spcAft>
                <a:spcPts val="1200"/>
              </a:spcAft>
              <a:defRPr sz="2100" b="0">
                <a:solidFill>
                  <a:srgbClr val="49343D"/>
                </a:solidFill>
                <a:latin typeface="Arial"/>
              </a:defRPr>
            </a:pPr>
            <a:r>
              <a:t>JavaScript: dữ liệu và các thao tác.</a:t>
            </a:r>
          </a:p>
          <a:p>
            <a:pPr>
              <a:spcAft>
                <a:spcPts val="1200"/>
              </a:spcAft>
              <a:defRPr sz="2100" b="0">
                <a:solidFill>
                  <a:srgbClr val="49343D"/>
                </a:solidFill>
                <a:latin typeface="Arial"/>
              </a:defRPr>
            </a:pPr>
            <a:r>
              <a:t>Ảnh: minh họa SVG cục bộ.</a:t>
            </a:r>
          </a:p>
          <a:p>
            <a:pPr>
              <a:spcAft>
                <a:spcPts val="1200"/>
              </a:spcAft>
              <a:defRPr sz="2100" b="0">
                <a:solidFill>
                  <a:srgbClr val="49343D"/>
                </a:solidFill>
                <a:latin typeface="Arial"/>
              </a:defRPr>
            </a:pPr>
            <a:r>
              <a:t>Tài liệu: hướng dẫn, báo cáo, phân công.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73736" cy="6858000"/>
          </a:xfrm>
          <a:prstGeom prst="rect">
            <a:avLst/>
          </a:prstGeom>
          <a:solidFill>
            <a:srgbClr val="FFD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65760"/>
            <a:ext cx="99669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100" b="1">
                <a:solidFill>
                  <a:srgbClr val="D95A87"/>
                </a:solidFill>
                <a:latin typeface="Arial"/>
              </a:defRPr>
            </a:pPr>
            <a:r>
              <a:t>BÀI TẬP NHÓM • THIẾT KẾ WEB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96012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3200" b="1">
                <a:solidFill>
                  <a:srgbClr val="49343D"/>
                </a:solidFill>
                <a:latin typeface="Arial"/>
              </a:defRPr>
            </a:pPr>
            <a:r>
              <a:t>Các trang kết nối thành một luồng sử dụng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6345936"/>
            <a:ext cx="10972800" cy="18288"/>
          </a:xfrm>
          <a:prstGeom prst="rect">
            <a:avLst/>
          </a:prstGeom>
          <a:solidFill>
            <a:srgbClr val="FFD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492240"/>
            <a:ext cx="91440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765C67"/>
                </a:solidFill>
                <a:latin typeface="Arial"/>
              </a:defRPr>
            </a:pPr>
            <a:r>
              <a:t>sisimimi  /  Thế giới nhỏ dành cho bé yêu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2823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200" b="1">
                <a:solidFill>
                  <a:srgbClr val="D95A87"/>
                </a:solidFill>
                <a:latin typeface="Arial"/>
              </a:defRPr>
            </a:pPr>
            <a:r>
              <a:t>07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039112"/>
            <a:ext cx="2240280" cy="640080"/>
          </a:xfrm>
          <a:prstGeom prst="roundRect">
            <a:avLst/>
          </a:prstGeom>
          <a:solidFill>
            <a:srgbClr val="FFD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2221992"/>
            <a:ext cx="1874519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900" b="1">
                <a:solidFill>
                  <a:srgbClr val="49343D"/>
                </a:solidFill>
                <a:latin typeface="Arial"/>
              </a:defRPr>
            </a:pPr>
            <a:r>
              <a:t>TRANG CHỦ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37560" y="2039112"/>
            <a:ext cx="3337560" cy="8229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20440" y="2267712"/>
            <a:ext cx="2971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900" b="1">
                <a:solidFill>
                  <a:srgbClr val="49343D"/>
                </a:solidFill>
                <a:latin typeface="Arial"/>
              </a:defRPr>
            </a:pPr>
            <a:r>
              <a:t>Sản phẩm → Chi tiết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0" y="2039112"/>
            <a:ext cx="4206240" cy="8229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98079" y="2267712"/>
            <a:ext cx="384047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900" b="1">
                <a:solidFill>
                  <a:srgbClr val="49343D"/>
                </a:solidFill>
                <a:latin typeface="Arial"/>
              </a:defRPr>
            </a:pPr>
            <a:r>
              <a:t>Giỏ → Xác nhận mô phỏng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37560" y="3246120"/>
            <a:ext cx="3337560" cy="8229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20440" y="3474720"/>
            <a:ext cx="2971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900" b="1">
                <a:solidFill>
                  <a:srgbClr val="49343D"/>
                </a:solidFill>
                <a:latin typeface="Arial"/>
              </a:defRPr>
            </a:pPr>
            <a:r>
              <a:t>Tin tức → Bài viết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0" y="3246120"/>
            <a:ext cx="4206240" cy="8229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98079" y="3474720"/>
            <a:ext cx="384047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900" b="1">
                <a:solidFill>
                  <a:srgbClr val="49343D"/>
                </a:solidFill>
                <a:latin typeface="Arial"/>
              </a:defRPr>
            </a:pPr>
            <a:r>
              <a:t>Liên hệ · FAQ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337560" y="4462272"/>
            <a:ext cx="3337560" cy="8229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20440" y="4690872"/>
            <a:ext cx="2971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900" b="1">
                <a:solidFill>
                  <a:srgbClr val="49343D"/>
                </a:solidFill>
                <a:latin typeface="Arial"/>
              </a:defRPr>
            </a:pPr>
            <a:r>
              <a:t>Giới thiệu · Tuyển dụng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0" y="4462272"/>
            <a:ext cx="4206240" cy="8229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98079" y="4690872"/>
            <a:ext cx="384047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900" b="1">
                <a:solidFill>
                  <a:srgbClr val="49343D"/>
                </a:solidFill>
                <a:latin typeface="Arial"/>
              </a:defRPr>
            </a:pPr>
            <a:r>
              <a:t>Tài khoản mô phỏng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3218688"/>
            <a:ext cx="214884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900" b="0">
                <a:solidFill>
                  <a:srgbClr val="765C67"/>
                </a:solidFill>
                <a:latin typeface="Arial"/>
              </a:defRPr>
            </a:pPr>
            <a:r>
              <a:t>Menu và footer</a:t>
            </a:r>
          </a:p>
          <a:p>
            <a:pPr>
              <a:spcAft>
                <a:spcPts val="1200"/>
              </a:spcAft>
              <a:defRPr sz="1900" b="0">
                <a:solidFill>
                  <a:srgbClr val="765C67"/>
                </a:solidFill>
                <a:latin typeface="Arial"/>
              </a:defRPr>
            </a:pPr>
            <a:r>
              <a:t>giúp chuyển giữa</a:t>
            </a:r>
          </a:p>
          <a:p>
            <a:pPr>
              <a:spcAft>
                <a:spcPts val="1200"/>
              </a:spcAft>
              <a:defRPr sz="1900" b="0">
                <a:solidFill>
                  <a:srgbClr val="765C67"/>
                </a:solidFill>
                <a:latin typeface="Arial"/>
              </a:defRPr>
            </a:pPr>
            <a:r>
              <a:t>các trang chính.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80" y="5650992"/>
            <a:ext cx="80467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600" b="0">
                <a:solidFill>
                  <a:srgbClr val="765C67"/>
                </a:solidFill>
                <a:latin typeface="Arial"/>
              </a:defRPr>
            </a:pPr>
            <a:r>
              <a:t>Chi tiết sản phẩm và bài viết được chọn bằng ?id=… trên URL.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73736" cy="6858000"/>
          </a:xfrm>
          <a:prstGeom prst="rect">
            <a:avLst/>
          </a:prstGeom>
          <a:solidFill>
            <a:srgbClr val="FFD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6576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D95A87"/>
                </a:solidFill>
                <a:latin typeface="Arial"/>
              </a:defRPr>
            </a:pPr>
            <a:r>
              <a:t>BÀI TẬP NHÓM • THIẾT KẾ WEB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960120"/>
            <a:ext cx="109728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>
                <a:solidFill>
                  <a:srgbClr val="49343D"/>
                </a:solidFill>
                <a:latin typeface="Arial"/>
              </a:defRPr>
            </a:pPr>
            <a:r>
              <a:t>Giao diện thực tế: trang chủ và sản phẩm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57784" y="1929384"/>
            <a:ext cx="5358384" cy="3803904"/>
          </a:xfrm>
          <a:prstGeom prst="roundRect">
            <a:avLst/>
          </a:prstGeom>
          <a:solidFill>
            <a:srgbClr val="FFD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giao-dien-trang-ch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965960"/>
            <a:ext cx="5285232" cy="371612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94360" y="5843016"/>
            <a:ext cx="5285232" cy="3017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500" b="1">
                <a:solidFill>
                  <a:srgbClr val="D95A87"/>
                </a:solidFill>
                <a:latin typeface="Arial"/>
              </a:defRPr>
            </a:pPr>
            <a:r>
              <a:t>01 / TRANG CHỦ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18504" y="1929384"/>
            <a:ext cx="5358384" cy="3803904"/>
          </a:xfrm>
          <a:prstGeom prst="roundRect">
            <a:avLst/>
          </a:prstGeom>
          <a:solidFill>
            <a:srgbClr val="FFD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giao-dien-san-ph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965960"/>
            <a:ext cx="5285232" cy="371612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55080" y="5843016"/>
            <a:ext cx="5285232" cy="3017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500" b="1">
                <a:solidFill>
                  <a:srgbClr val="D95A87"/>
                </a:solidFill>
                <a:latin typeface="Arial"/>
              </a:defRPr>
            </a:pPr>
            <a:r>
              <a:t>02 / SẢN PHẨM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6172200"/>
            <a:ext cx="109728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>
                <a:solidFill>
                  <a:srgbClr val="765C67"/>
                </a:solidFill>
                <a:latin typeface="Arial"/>
              </a:defRPr>
            </a:pPr>
            <a:r>
              <a:t>Ảnh chụp từ website bằng Chromium, viewport 1280 × 900 px; sản phẩm và thương hiệu là dữ liệu mẫu.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4360" y="6391656"/>
            <a:ext cx="10972800" cy="18288"/>
          </a:xfrm>
          <a:prstGeom prst="rect">
            <a:avLst/>
          </a:prstGeom>
          <a:solidFill>
            <a:srgbClr val="FFD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6492240"/>
            <a:ext cx="91440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>
                <a:solidFill>
                  <a:srgbClr val="765C67"/>
                </a:solidFill>
                <a:latin typeface="Arial"/>
              </a:defRPr>
            </a:pPr>
            <a:r>
              <a:t>sisimimi  /  Thế giới nhỏ dành cho bé yêu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0" y="642823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>
                <a:solidFill>
                  <a:srgbClr val="D95A87"/>
                </a:solidFill>
                <a:latin typeface="Arial"/>
              </a:defRPr>
            </a:pPr>
            <a: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73736" cy="6858000"/>
          </a:xfrm>
          <a:prstGeom prst="rect">
            <a:avLst/>
          </a:prstGeom>
          <a:solidFill>
            <a:srgbClr val="FFD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65760"/>
            <a:ext cx="99669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100" b="1">
                <a:solidFill>
                  <a:srgbClr val="D95A87"/>
                </a:solidFill>
                <a:latin typeface="Arial"/>
              </a:defRPr>
            </a:pPr>
            <a:r>
              <a:t>BÀI TẬP NHÓM • THIẾT KẾ WEB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96012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3200" b="1">
                <a:solidFill>
                  <a:srgbClr val="49343D"/>
                </a:solidFill>
                <a:latin typeface="Arial"/>
              </a:defRPr>
            </a:pPr>
            <a:r>
              <a:t>Từ danh sách đến chi tiết đúng sản phẩm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6345936"/>
            <a:ext cx="10972800" cy="18288"/>
          </a:xfrm>
          <a:prstGeom prst="rect">
            <a:avLst/>
          </a:prstGeom>
          <a:solidFill>
            <a:srgbClr val="FFD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492240"/>
            <a:ext cx="91440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765C67"/>
                </a:solidFill>
                <a:latin typeface="Arial"/>
              </a:defRPr>
            </a:pPr>
            <a:r>
              <a:t>sisimimi  /  Thế giới nhỏ dành cho bé yêu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2823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200" b="1">
                <a:solidFill>
                  <a:srgbClr val="D95A87"/>
                </a:solidFill>
                <a:latin typeface="Arial"/>
              </a:defRPr>
            </a:pPr>
            <a:r>
              <a:t>09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2057400"/>
            <a:ext cx="3502152" cy="359359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313432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2100" b="1">
                <a:solidFill>
                  <a:srgbClr val="D95A87"/>
                </a:solidFill>
                <a:latin typeface="Arial"/>
              </a:defRPr>
            </a:pPr>
            <a:r>
              <a:t>Một nguồn dữ liệu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953512"/>
            <a:ext cx="3017520" cy="2331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900" b="0">
                <a:solidFill>
                  <a:srgbClr val="49343D"/>
                </a:solidFill>
                <a:latin typeface="Arial"/>
              </a:defRPr>
            </a:pPr>
            <a:r>
              <a:t>Mảng sản phẩm chứa ID, tên, giá, danh mục, ảnh và đặc điểm.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06824" y="2057400"/>
            <a:ext cx="3502152" cy="359359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35424" y="2313432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2100" b="1">
                <a:solidFill>
                  <a:srgbClr val="D95A87"/>
                </a:solidFill>
                <a:latin typeface="Arial"/>
              </a:defRPr>
            </a:pPr>
            <a:r>
              <a:t>Tìm kiếm + lọc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35424" y="2953512"/>
            <a:ext cx="3017520" cy="2331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900" b="0">
                <a:solidFill>
                  <a:srgbClr val="49343D"/>
                </a:solidFill>
                <a:latin typeface="Arial"/>
              </a:defRPr>
            </a:pPr>
            <a:r>
              <a:t>Tìm theo tên và chọn 4 nhóm: thức ăn, đồ chơi, quần áo, phụ kiện.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19288" y="2057400"/>
            <a:ext cx="3502152" cy="359359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47888" y="2313432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2100" b="1">
                <a:solidFill>
                  <a:srgbClr val="D95A87"/>
                </a:solidFill>
                <a:latin typeface="Arial"/>
              </a:defRPr>
            </a:pPr>
            <a:r>
              <a:t>ID trên URL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47888" y="2953512"/>
            <a:ext cx="3017520" cy="2331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900" b="0">
                <a:solidFill>
                  <a:srgbClr val="49343D"/>
                </a:solidFill>
                <a:latin typeface="Arial"/>
              </a:defRPr>
            </a:pPr>
            <a:r>
              <a:t>?id=1 chọn nội dung tương ứng. Có thông báo nếu không tìm thấy sản phẩm hoặc bài viết.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73736" cy="6858000"/>
          </a:xfrm>
          <a:prstGeom prst="rect">
            <a:avLst/>
          </a:prstGeom>
          <a:solidFill>
            <a:srgbClr val="FFD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65760"/>
            <a:ext cx="99669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100" b="1">
                <a:solidFill>
                  <a:srgbClr val="D95A87"/>
                </a:solidFill>
                <a:latin typeface="Arial"/>
              </a:defRPr>
            </a:pPr>
            <a:r>
              <a:t>BÀI TẬP NHÓM • THIẾT KẾ WEB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96012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3200" b="1">
                <a:solidFill>
                  <a:srgbClr val="49343D"/>
                </a:solidFill>
                <a:latin typeface="Arial"/>
              </a:defRPr>
            </a:pPr>
            <a:r>
              <a:t>Giỏ hàng dùng chung, tính toán minh bạch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6345936"/>
            <a:ext cx="10972800" cy="18288"/>
          </a:xfrm>
          <a:prstGeom prst="rect">
            <a:avLst/>
          </a:prstGeom>
          <a:solidFill>
            <a:srgbClr val="FFD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492240"/>
            <a:ext cx="91440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765C67"/>
                </a:solidFill>
                <a:latin typeface="Arial"/>
              </a:defRPr>
            </a:pPr>
            <a:r>
              <a:t>sisimimi  /  Thế giới nhỏ dành cho bé yêu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2823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200" b="1">
                <a:solidFill>
                  <a:srgbClr val="D95A87"/>
                </a:solidFill>
                <a:latin typeface="Arial"/>
              </a:defRPr>
            </a:pPr>
            <a:r>
              <a:t>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965960"/>
            <a:ext cx="6126480" cy="35204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2240280"/>
            <a:ext cx="55778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2400" b="1">
                <a:solidFill>
                  <a:srgbClr val="D95A87"/>
                </a:solidFill>
                <a:latin typeface="Arial"/>
              </a:defRPr>
            </a:pPr>
            <a:r>
              <a:t>Ví dụ demo với giá mẫu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2926080"/>
            <a:ext cx="5577840" cy="228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2400" b="0">
                <a:solidFill>
                  <a:srgbClr val="49343D"/>
                </a:solidFill>
                <a:latin typeface="Arial"/>
              </a:defRPr>
            </a:pPr>
            <a:r>
              <a:t>2 vòng cổ + 1 áo hoodie = 337.000 ₫</a:t>
            </a:r>
          </a:p>
          <a:p>
            <a:pPr>
              <a:spcAft>
                <a:spcPts val="1200"/>
              </a:spcAft>
              <a:defRPr sz="2400" b="0">
                <a:solidFill>
                  <a:srgbClr val="49343D"/>
                </a:solidFill>
                <a:latin typeface="Arial"/>
              </a:defRPr>
            </a:pPr>
            <a:r>
              <a:t>Tăng áo lên 2 = 496.000 ₫</a:t>
            </a:r>
          </a:p>
          <a:p>
            <a:pPr>
              <a:spcAft>
                <a:spcPts val="1200"/>
              </a:spcAft>
              <a:defRPr sz="2400" b="0">
                <a:solidFill>
                  <a:srgbClr val="49343D"/>
                </a:solidFill>
                <a:latin typeface="Arial"/>
              </a:defRPr>
            </a:pPr>
            <a:r>
              <a:t>Xóa vòng cổ = 318.000 ₫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23760" y="2240280"/>
            <a:ext cx="4206240" cy="3474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2100" b="0">
                <a:solidFill>
                  <a:srgbClr val="49343D"/>
                </a:solidFill>
                <a:latin typeface="Arial"/>
              </a:defRPr>
            </a:pPr>
            <a:r>
              <a:t>Chỉ lưu ID + số lượng.</a:t>
            </a:r>
          </a:p>
          <a:p>
            <a:pPr>
              <a:spcAft>
                <a:spcPts val="1200"/>
              </a:spcAft>
              <a:defRPr sz="2100" b="0">
                <a:solidFill>
                  <a:srgbClr val="49343D"/>
                </a:solidFill>
                <a:latin typeface="Arial"/>
              </a:defRPr>
            </a:pPr>
            <a:r>
              <a:t>Giá đọc từ dữ liệu chung.</a:t>
            </a:r>
          </a:p>
          <a:p>
            <a:pPr>
              <a:spcAft>
                <a:spcPts val="1200"/>
              </a:spcAft>
              <a:defRPr sz="2100" b="0">
                <a:solidFill>
                  <a:srgbClr val="49343D"/>
                </a:solidFill>
                <a:latin typeface="Arial"/>
              </a:defRPr>
            </a:pPr>
            <a:r>
              <a:t>Tải lại giữ giỏ tại cùng origin.</a:t>
            </a:r>
          </a:p>
          <a:p>
            <a:pPr>
              <a:spcAft>
                <a:spcPts val="1200"/>
              </a:spcAft>
              <a:defRPr sz="2100" b="0">
                <a:solidFill>
                  <a:srgbClr val="49343D"/>
                </a:solidFill>
                <a:latin typeface="Arial"/>
              </a:defRPr>
            </a:pPr>
            <a:r>
              <a:t>Xác nhận là mô phỏng, không thu tiền.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73736" cy="6858000"/>
          </a:xfrm>
          <a:prstGeom prst="rect">
            <a:avLst/>
          </a:prstGeom>
          <a:solidFill>
            <a:srgbClr val="FFD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65760"/>
            <a:ext cx="99669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100" b="1">
                <a:solidFill>
                  <a:srgbClr val="D95A87"/>
                </a:solidFill>
                <a:latin typeface="Arial"/>
              </a:defRPr>
            </a:pPr>
            <a:r>
              <a:t>BÀI TẬP NHÓM • THIẾT KẾ WEB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96012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3200" b="1">
                <a:solidFill>
                  <a:srgbClr val="49343D"/>
                </a:solidFill>
                <a:latin typeface="Arial"/>
              </a:defRPr>
            </a:pPr>
            <a:r>
              <a:t>Biểu mẫu và tương tác nhỏ, rõ ràng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6345936"/>
            <a:ext cx="10972800" cy="18288"/>
          </a:xfrm>
          <a:prstGeom prst="rect">
            <a:avLst/>
          </a:prstGeom>
          <a:solidFill>
            <a:srgbClr val="FFD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492240"/>
            <a:ext cx="91440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765C67"/>
                </a:solidFill>
                <a:latin typeface="Arial"/>
              </a:defRPr>
            </a:pPr>
            <a:r>
              <a:t>sisimimi  /  Thế giới nhỏ dành cho bé yêu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2823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200" b="1">
                <a:solidFill>
                  <a:srgbClr val="D95A87"/>
                </a:solidFill>
                <a:latin typeface="Arial"/>
              </a:defRPr>
            </a:pPr>
            <a:r>
              <a:t>11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2057400"/>
            <a:ext cx="3502152" cy="359359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313432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2100" b="1">
                <a:solidFill>
                  <a:srgbClr val="D95A87"/>
                </a:solidFill>
                <a:latin typeface="Arial"/>
              </a:defRPr>
            </a:pPr>
            <a:r>
              <a:t>Kiểm tra dữ liệu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953512"/>
            <a:ext cx="3017520" cy="2331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900" b="0">
                <a:solidFill>
                  <a:srgbClr val="49343D"/>
                </a:solidFill>
                <a:latin typeface="Arial"/>
              </a:defRPr>
            </a:pPr>
            <a:r>
              <a:t>Trường bắt buộc, email, điện thoại, khoảng trắng và xác nhận mật khẩu.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06824" y="2057400"/>
            <a:ext cx="3502152" cy="359359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35424" y="2313432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2100" b="1">
                <a:solidFill>
                  <a:srgbClr val="D95A87"/>
                </a:solidFill>
                <a:latin typeface="Arial"/>
              </a:defRPr>
            </a:pPr>
            <a:r>
              <a:t>Tương tác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35424" y="2953512"/>
            <a:ext cx="3017520" cy="2331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900" b="0">
                <a:solidFill>
                  <a:srgbClr val="49343D"/>
                </a:solidFill>
                <a:latin typeface="Arial"/>
              </a:defRPr>
            </a:pPr>
            <a:r>
              <a:t>Chuyển tab tài khoản, chọn việc ứng tuyển, menu di động và FAQ details/summary.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19288" y="2057400"/>
            <a:ext cx="3502152" cy="359359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47888" y="2313432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2100" b="1">
                <a:solidFill>
                  <a:srgbClr val="D95A87"/>
                </a:solidFill>
                <a:latin typeface="Arial"/>
              </a:defRPr>
            </a:pPr>
            <a:r>
              <a:t>Mô phỏng minh bạch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47888" y="2953512"/>
            <a:ext cx="3017520" cy="2331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900" b="0">
                <a:solidFill>
                  <a:srgbClr val="49343D"/>
                </a:solidFill>
                <a:latin typeface="Arial"/>
              </a:defRPr>
            </a:pPr>
            <a:r>
              <a:t>Không gửi email hoặc CV. Không tạo tài khoản. Không lưu mật khẩu và dữ liệu biểu mẫu.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73736" cy="6858000"/>
          </a:xfrm>
          <a:prstGeom prst="rect">
            <a:avLst/>
          </a:prstGeom>
          <a:solidFill>
            <a:srgbClr val="FFD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65760"/>
            <a:ext cx="99669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100" b="1">
                <a:solidFill>
                  <a:srgbClr val="D95A87"/>
                </a:solidFill>
                <a:latin typeface="Arial"/>
              </a:defRPr>
            </a:pPr>
            <a:r>
              <a:t>BÀI TẬP NHÓM • THIẾT KẾ WEB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96012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3200" b="1">
                <a:solidFill>
                  <a:srgbClr val="49343D"/>
                </a:solidFill>
                <a:latin typeface="Arial"/>
              </a:defRPr>
            </a:pPr>
            <a:r>
              <a:t>Responsive và kiểm thử cần bằng chứng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6345936"/>
            <a:ext cx="10972800" cy="18288"/>
          </a:xfrm>
          <a:prstGeom prst="rect">
            <a:avLst/>
          </a:prstGeom>
          <a:solidFill>
            <a:srgbClr val="FFD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492240"/>
            <a:ext cx="91440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765C67"/>
                </a:solidFill>
                <a:latin typeface="Arial"/>
              </a:defRPr>
            </a:pPr>
            <a:r>
              <a:t>sisimimi  /  Thế giới nhỏ dành cho bé yêu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2823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200" b="1">
                <a:solidFill>
                  <a:srgbClr val="D95A87"/>
                </a:solidFill>
                <a:latin typeface="Arial"/>
              </a:defRPr>
            </a:pPr>
            <a:r>
              <a:t>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130552"/>
            <a:ext cx="109728" cy="109728"/>
          </a:xfrm>
          <a:prstGeom prst="roundRect">
            <a:avLst/>
          </a:prstGeom>
          <a:solidFill>
            <a:srgbClr val="D95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2416" y="2057400"/>
            <a:ext cx="10296144" cy="6675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2200" b="0">
                <a:solidFill>
                  <a:srgbClr val="49343D"/>
                </a:solidFill>
                <a:latin typeface="Arial"/>
              </a:defRPr>
            </a:pPr>
            <a:r>
              <a:t>Lưới sản phẩm đổi số cột; ảnh và form thích ứng màn hình hẹp.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935224"/>
            <a:ext cx="109728" cy="109728"/>
          </a:xfrm>
          <a:prstGeom prst="roundRect">
            <a:avLst/>
          </a:prstGeom>
          <a:solidFill>
            <a:srgbClr val="D95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2416" y="2862072"/>
            <a:ext cx="10296144" cy="6675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2200" b="0">
                <a:solidFill>
                  <a:srgbClr val="49343D"/>
                </a:solidFill>
                <a:latin typeface="Arial"/>
              </a:defRPr>
            </a:pPr>
            <a:r>
              <a:t>Kiểm tra 11 trang, liên kết, giỏ, biểu mẫu và lỗi Console.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739896"/>
            <a:ext cx="109728" cy="109728"/>
          </a:xfrm>
          <a:prstGeom prst="roundRect">
            <a:avLst/>
          </a:prstGeom>
          <a:solidFill>
            <a:srgbClr val="D95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42416" y="3666744"/>
            <a:ext cx="10296144" cy="6675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2200" b="0">
                <a:solidFill>
                  <a:srgbClr val="49343D"/>
                </a:solidFill>
                <a:latin typeface="Arial"/>
              </a:defRPr>
            </a:pPr>
            <a:r>
              <a:t>Dùng bàn phím; thử chiều rộng 320, 375, 768 và 1280px.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544568"/>
            <a:ext cx="109728" cy="109728"/>
          </a:xfrm>
          <a:prstGeom prst="roundRect">
            <a:avLst/>
          </a:prstGeom>
          <a:solidFill>
            <a:srgbClr val="D95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42416" y="4471416"/>
            <a:ext cx="10296144" cy="6675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2200" b="0">
                <a:solidFill>
                  <a:srgbClr val="49343D"/>
                </a:solidFill>
                <a:latin typeface="Arial"/>
              </a:defRPr>
            </a:pPr>
            <a:r>
              <a:t>Xem KIEM_THU.md; nhóm chạy thêm Chrome, Edge và Firefox.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5614416"/>
            <a:ext cx="10149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500" b="0">
                <a:solidFill>
                  <a:srgbClr val="D95A87"/>
                </a:solidFill>
                <a:latin typeface="Arial"/>
              </a:defRPr>
            </a:pPr>
            <a:r>
              <a:t>Không quy kết kiểm thử Chromium là đã chạy mọi trình duyệt hoặc thiết bị thật.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73736" cy="6858000"/>
          </a:xfrm>
          <a:prstGeom prst="rect">
            <a:avLst/>
          </a:prstGeom>
          <a:solidFill>
            <a:srgbClr val="FFD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65760"/>
            <a:ext cx="99669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100" b="1">
                <a:solidFill>
                  <a:srgbClr val="D95A87"/>
                </a:solidFill>
                <a:latin typeface="Arial"/>
              </a:defRPr>
            </a:pPr>
            <a:r>
              <a:t>BÀI TẬP NHÓM • THIẾT KẾ WEB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96012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3200" b="1">
                <a:solidFill>
                  <a:srgbClr val="49343D"/>
                </a:solidFill>
                <a:latin typeface="Arial"/>
              </a:defRPr>
            </a:pPr>
            <a:r>
              <a:t>Những gì học được và giới hạn của sản phẩm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6345936"/>
            <a:ext cx="10972800" cy="18288"/>
          </a:xfrm>
          <a:prstGeom prst="rect">
            <a:avLst/>
          </a:prstGeom>
          <a:solidFill>
            <a:srgbClr val="FFD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492240"/>
            <a:ext cx="91440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765C67"/>
                </a:solidFill>
                <a:latin typeface="Arial"/>
              </a:defRPr>
            </a:pPr>
            <a:r>
              <a:t>sisimimi  /  Thế giới nhỏ dành cho bé yêu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2823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200" b="1">
                <a:solidFill>
                  <a:srgbClr val="D95A87"/>
                </a:solidFill>
                <a:latin typeface="Arial"/>
              </a:defRPr>
            </a:pPr>
            <a:r>
              <a:t>13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2057400"/>
            <a:ext cx="3502152" cy="359359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313432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2100" b="1">
                <a:solidFill>
                  <a:srgbClr val="D95A87"/>
                </a:solidFill>
                <a:latin typeface="Arial"/>
              </a:defRPr>
            </a:pPr>
            <a:r>
              <a:t>Khó khăn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953512"/>
            <a:ext cx="3017520" cy="2331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900" b="0">
                <a:solidFill>
                  <a:srgbClr val="49343D"/>
                </a:solidFill>
                <a:latin typeface="Arial"/>
              </a:defRPr>
            </a:pPr>
            <a:r>
              <a:t>Đồng bộ giỏ nhiều trang; dữ liệu lưu hỏng; đường dẫn ảnh; bố cục điện thoại.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06824" y="2057400"/>
            <a:ext cx="3502152" cy="359359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35424" y="2313432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2100" b="1">
                <a:solidFill>
                  <a:srgbClr val="D95A87"/>
                </a:solidFill>
                <a:latin typeface="Arial"/>
              </a:defRPr>
            </a:pPr>
            <a:r>
              <a:t>Giải pháp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35424" y="2953512"/>
            <a:ext cx="3017520" cy="2331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900" b="0">
                <a:solidFill>
                  <a:srgbClr val="49343D"/>
                </a:solidFill>
                <a:latin typeface="Arial"/>
              </a:defRPr>
            </a:pPr>
            <a:r>
              <a:t>Nguồn dữ liệu chung; kiểm tra ID/số lượng; đường dẫn tương đối; media query.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19288" y="2057400"/>
            <a:ext cx="3502152" cy="359359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47888" y="2313432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2100" b="1">
                <a:solidFill>
                  <a:srgbClr val="D95A87"/>
                </a:solidFill>
                <a:latin typeface="Arial"/>
              </a:defRPr>
            </a:pPr>
            <a:r>
              <a:t>Giới hạn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47888" y="2953512"/>
            <a:ext cx="3017520" cy="2331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900" b="0">
                <a:solidFill>
                  <a:srgbClr val="49343D"/>
                </a:solidFill>
                <a:latin typeface="Arial"/>
              </a:defRPr>
            </a:pPr>
            <a:r>
              <a:t>Dữ liệu cửa hàng và đánh giá là mẫu. Bản đồ cần mạng. Không có backend hay giao dịch thật.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73736" cy="6858000"/>
          </a:xfrm>
          <a:prstGeom prst="rect">
            <a:avLst/>
          </a:prstGeom>
          <a:solidFill>
            <a:srgbClr val="FFD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65760"/>
            <a:ext cx="99669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100" b="1">
                <a:solidFill>
                  <a:srgbClr val="D95A87"/>
                </a:solidFill>
                <a:latin typeface="Arial"/>
              </a:defRPr>
            </a:pPr>
            <a:r>
              <a:t>BÀI TẬP NHÓM • THIẾT KẾ WEB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96012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3200" b="1">
                <a:solidFill>
                  <a:srgbClr val="49343D"/>
                </a:solidFill>
                <a:latin typeface="Arial"/>
              </a:defRPr>
            </a:pPr>
            <a:r>
              <a:t>Tiếp tục từ nền tảng đã hiểu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6345936"/>
            <a:ext cx="10972800" cy="18288"/>
          </a:xfrm>
          <a:prstGeom prst="rect">
            <a:avLst/>
          </a:prstGeom>
          <a:solidFill>
            <a:srgbClr val="FFD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492240"/>
            <a:ext cx="91440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765C67"/>
                </a:solidFill>
                <a:latin typeface="Arial"/>
              </a:defRPr>
            </a:pPr>
            <a:r>
              <a:t>sisimimi  /  Thế giới nhỏ dành cho bé yêu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2823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200" b="1">
                <a:solidFill>
                  <a:srgbClr val="D95A87"/>
                </a:solidFill>
                <a:latin typeface="Arial"/>
              </a:defRPr>
            </a:pPr>
            <a: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048256"/>
            <a:ext cx="73152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2700" b="1">
                <a:solidFill>
                  <a:srgbClr val="D95A87"/>
                </a:solidFill>
                <a:latin typeface="Arial"/>
              </a:defRPr>
            </a:pPr>
            <a:r>
              <a:t>Hướng phát triển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770632"/>
            <a:ext cx="745236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2300" b="0">
                <a:solidFill>
                  <a:srgbClr val="49343D"/>
                </a:solidFill>
                <a:latin typeface="Arial"/>
              </a:defRPr>
            </a:pPr>
            <a:r>
              <a:t>Bổ sung ảnh thật có quyền sử dụng.</a:t>
            </a:r>
          </a:p>
          <a:p>
            <a:pPr>
              <a:spcAft>
                <a:spcPts val="1200"/>
              </a:spcAft>
              <a:defRPr sz="2300" b="0">
                <a:solidFill>
                  <a:srgbClr val="49343D"/>
                </a:solidFill>
                <a:latin typeface="Arial"/>
              </a:defRPr>
            </a:pPr>
            <a:r>
              <a:t>Kiểm tra trợ năng và nhiều thiết bị hơn.</a:t>
            </a:r>
          </a:p>
          <a:p>
            <a:pPr>
              <a:spcAft>
                <a:spcPts val="1200"/>
              </a:spcAft>
              <a:defRPr sz="2300" b="0">
                <a:solidFill>
                  <a:srgbClr val="49343D"/>
                </a:solidFill>
                <a:latin typeface="Arial"/>
              </a:defRPr>
            </a:pPr>
            <a:r>
              <a:t>Backend và thanh toán là dự án mở rộng riêng.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5303520"/>
            <a:ext cx="8321040" cy="548640"/>
          </a:xfrm>
          <a:prstGeom prst="roundRect">
            <a:avLst/>
          </a:prstGeom>
          <a:solidFill>
            <a:srgbClr val="FFD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7824" y="5440680"/>
            <a:ext cx="78638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900" b="1">
                <a:solidFill>
                  <a:srgbClr val="49343D"/>
                </a:solidFill>
                <a:latin typeface="Arial"/>
              </a:defRPr>
            </a:pPr>
            <a:r>
              <a:t>HTML rõ cấu trúc • CSS đồng bộ • JavaScript dễ giải thích</a:t>
            </a:r>
          </a:p>
        </p:txBody>
      </p:sp>
      <p:sp>
        <p:nvSpPr>
          <p:cNvPr id="12" name="Oval 11"/>
          <p:cNvSpPr/>
          <p:nvPr/>
        </p:nvSpPr>
        <p:spPr>
          <a:xfrm>
            <a:off x="9648748" y="3368649"/>
            <a:ext cx="980236" cy="731520"/>
          </a:xfrm>
          <a:prstGeom prst="ellipse">
            <a:avLst/>
          </a:prstGeom>
          <a:solidFill>
            <a:srgbClr val="D95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253728" y="2944368"/>
            <a:ext cx="409651" cy="512063"/>
          </a:xfrm>
          <a:prstGeom prst="ellipse">
            <a:avLst/>
          </a:prstGeom>
          <a:solidFill>
            <a:srgbClr val="D95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721900" y="2651760"/>
            <a:ext cx="395020" cy="526694"/>
          </a:xfrm>
          <a:prstGeom prst="ellipse">
            <a:avLst/>
          </a:prstGeom>
          <a:solidFill>
            <a:srgbClr val="D95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0263225" y="2695651"/>
            <a:ext cx="395020" cy="526694"/>
          </a:xfrm>
          <a:prstGeom prst="ellipse">
            <a:avLst/>
          </a:prstGeom>
          <a:solidFill>
            <a:srgbClr val="D95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0716767" y="2988259"/>
            <a:ext cx="395020" cy="512063"/>
          </a:xfrm>
          <a:prstGeom prst="ellipse">
            <a:avLst/>
          </a:prstGeom>
          <a:solidFill>
            <a:srgbClr val="D95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