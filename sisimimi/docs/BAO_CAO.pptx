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FFD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D95A87"/>
                </a:solidFill>
                <a:latin typeface="Arial"/>
              </a:defRPr>
            </a:pPr>
            <a:r>
              <a:t>ĐỒ ÁN GIAO DIỆN WEBSITE • HTML / CSS / 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49343D"/>
                </a:solidFill>
                <a:latin typeface="Arial"/>
              </a:defRPr>
            </a:pPr>
            <a:r>
              <a:t>sisimimi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45936"/>
            <a:ext cx="10972800" cy="18288"/>
          </a:xfrm>
          <a:prstGeom prst="rect">
            <a:avLst/>
          </a:prstGeom>
          <a:solidFill>
            <a:srgbClr val="FFD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765C67"/>
                </a:solidFill>
                <a:latin typeface="Arial"/>
              </a:defRPr>
            </a:pPr>
            <a:r>
              <a:t>sisimimi  /  Thế giới nhỏ dành cho bé yêu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D95A87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38528"/>
            <a:ext cx="6400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49343D"/>
                </a:solidFill>
                <a:latin typeface="Arial"/>
              </a:defRPr>
            </a:pPr>
            <a:r>
              <a:t>Thế giới nhỏ</a:t>
            </a:r>
          </a:p>
          <a:p>
            <a:pPr>
              <a:spcAft>
                <a:spcPts val="1200"/>
              </a:spcAft>
              <a:defRPr sz="3600" b="1">
                <a:solidFill>
                  <a:srgbClr val="49343D"/>
                </a:solidFill>
                <a:latin typeface="Arial"/>
              </a:defRPr>
            </a:pPr>
            <a:r>
              <a:t>dành cho bé yêu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11880"/>
            <a:ext cx="640080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765C67"/>
                </a:solidFill>
                <a:latin typeface="Arial"/>
              </a:defRPr>
            </a:pPr>
            <a:r>
              <a:t>Website đồ dùng và phụ kiện cho chó và cún con</a:t>
            </a:r>
          </a:p>
          <a:p>
            <a:pPr>
              <a:spcAft>
                <a:spcPts val="1200"/>
              </a:spcAft>
              <a:defRPr sz="2200" b="0">
                <a:solidFill>
                  <a:srgbClr val="765C67"/>
                </a:solidFill>
                <a:latin typeface="Arial"/>
              </a:defRPr>
            </a:pPr>
            <a:r>
              <a:t>11 trang HTML • Giao diện hồng pastel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138928"/>
            <a:ext cx="6858000" cy="530352"/>
          </a:xfrm>
          <a:prstGeom prst="roundRect">
            <a:avLst/>
          </a:prstGeom>
          <a:solidFill>
            <a:srgbClr val="FFD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248656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49343D"/>
                </a:solidFill>
                <a:latin typeface="Arial"/>
              </a:defRPr>
            </a:pPr>
            <a:r>
              <a:t>Nhóm: ______   Lớp: ______   Giảng viên: ______</a:t>
            </a:r>
          </a:p>
        </p:txBody>
      </p:sp>
      <p:sp>
        <p:nvSpPr>
          <p:cNvPr id="12" name="Oval 11"/>
          <p:cNvSpPr/>
          <p:nvPr/>
        </p:nvSpPr>
        <p:spPr>
          <a:xfrm>
            <a:off x="8793784" y="2952597"/>
            <a:ext cx="1286560" cy="960120"/>
          </a:xfrm>
          <a:prstGeom prst="ellipse">
            <a:avLst/>
          </a:prstGeom>
          <a:solidFill>
            <a:srgbClr val="D95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75320" y="2395728"/>
            <a:ext cx="537667" cy="672084"/>
          </a:xfrm>
          <a:prstGeom prst="ellipse">
            <a:avLst/>
          </a:prstGeom>
          <a:solidFill>
            <a:srgbClr val="D95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889796" y="2011680"/>
            <a:ext cx="518464" cy="691286"/>
          </a:xfrm>
          <a:prstGeom prst="ellipse">
            <a:avLst/>
          </a:prstGeom>
          <a:solidFill>
            <a:srgbClr val="D95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00285" y="2069287"/>
            <a:ext cx="518464" cy="691286"/>
          </a:xfrm>
          <a:prstGeom prst="ellipse">
            <a:avLst/>
          </a:prstGeom>
          <a:solidFill>
            <a:srgbClr val="D95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195560" y="2453335"/>
            <a:ext cx="518464" cy="672084"/>
          </a:xfrm>
          <a:prstGeom prst="ellipse">
            <a:avLst/>
          </a:prstGeom>
          <a:solidFill>
            <a:srgbClr val="D95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FFD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D95A87"/>
                </a:solidFill>
                <a:latin typeface="Arial"/>
              </a:defRPr>
            </a:pPr>
            <a:r>
              <a:t>BÀI TẬP NHÓM • THIẾT KẾ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49343D"/>
                </a:solidFill>
                <a:latin typeface="Arial"/>
              </a:defRPr>
            </a:pPr>
            <a:r>
              <a:t>Một cửa hàng nhỏ cho những người bạn nhỏ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45936"/>
            <a:ext cx="10972800" cy="18288"/>
          </a:xfrm>
          <a:prstGeom prst="rect">
            <a:avLst/>
          </a:prstGeom>
          <a:solidFill>
            <a:srgbClr val="FFD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765C67"/>
                </a:solidFill>
                <a:latin typeface="Arial"/>
              </a:defRPr>
            </a:pPr>
            <a:r>
              <a:t>sisimimi  /  Thế giới nhỏ dành cho bé yêu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D95A87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057400"/>
            <a:ext cx="3502152" cy="35935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D95A87"/>
                </a:solidFill>
                <a:latin typeface="Arial"/>
              </a:defRPr>
            </a:pPr>
            <a:r>
              <a:t>Đề tài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53512"/>
            <a:ext cx="301752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49343D"/>
                </a:solidFill>
                <a:latin typeface="Arial"/>
              </a:defRPr>
            </a:pPr>
            <a:r>
              <a:t>Đồ dùng, thức ăn, quần áo và phụ kiện dành cho chó và cún con.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6824" y="2057400"/>
            <a:ext cx="3502152" cy="35935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4" y="2313432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D95A87"/>
                </a:solidFill>
                <a:latin typeface="Arial"/>
              </a:defRPr>
            </a:pPr>
            <a:r>
              <a:t>Người dùng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2953512"/>
            <a:ext cx="301752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49343D"/>
                </a:solidFill>
                <a:latin typeface="Arial"/>
              </a:defRPr>
            </a:pPr>
            <a:r>
              <a:t>Người yêu thú cưng muốn tìm sản phẩm và tham khảo nội dung chăm sóc.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9288" y="2057400"/>
            <a:ext cx="3502152" cy="35935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2313432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D95A87"/>
                </a:solidFill>
                <a:latin typeface="Arial"/>
              </a:defRPr>
            </a:pPr>
            <a:r>
              <a:t>Trải nghiệm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953512"/>
            <a:ext cx="301752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49343D"/>
                </a:solidFill>
                <a:latin typeface="Arial"/>
              </a:defRPr>
            </a:pPr>
            <a:r>
              <a:t>Xem sản phẩm → chọn số lượng → giỏ hàng → xác nhận mô phỏng.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FFD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D95A87"/>
                </a:solidFill>
                <a:latin typeface="Arial"/>
              </a:defRPr>
            </a:pPr>
            <a:r>
              <a:t>BÀI TẬP NHÓM • THIẾT KẾ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49343D"/>
                </a:solidFill>
                <a:latin typeface="Arial"/>
              </a:defRPr>
            </a:pPr>
            <a:r>
              <a:t>Vì sao nhóm chọn sisimimi?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45936"/>
            <a:ext cx="10972800" cy="18288"/>
          </a:xfrm>
          <a:prstGeom prst="rect">
            <a:avLst/>
          </a:prstGeom>
          <a:solidFill>
            <a:srgbClr val="FFD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765C67"/>
                </a:solidFill>
                <a:latin typeface="Arial"/>
              </a:defRPr>
            </a:pPr>
            <a:r>
              <a:t>sisimimi  /  Thế giới nhỏ dành cho bé yêu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D95A87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30552"/>
            <a:ext cx="109728" cy="109728"/>
          </a:xfrm>
          <a:prstGeom prst="roundRect">
            <a:avLst/>
          </a:prstGeom>
          <a:solidFill>
            <a:srgbClr val="D95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2057400"/>
            <a:ext cx="10296144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49343D"/>
                </a:solidFill>
                <a:latin typeface="Arial"/>
              </a:defRPr>
            </a:pPr>
            <a:r>
              <a:t>Chủ đề chó/cún gần gũi; ảnh PNG tách nền dùng cho sản phẩm mẫu.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35224"/>
            <a:ext cx="109728" cy="109728"/>
          </a:xfrm>
          <a:prstGeom prst="roundRect">
            <a:avLst/>
          </a:prstGeom>
          <a:solidFill>
            <a:srgbClr val="D95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6" y="2862072"/>
            <a:ext cx="10296144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49343D"/>
                </a:solidFill>
                <a:latin typeface="Arial"/>
              </a:defRPr>
            </a:pPr>
            <a:r>
              <a:t>Một bài toán thực hành đầy đủ danh sách, chi tiết và biểu mẫu.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39896"/>
            <a:ext cx="109728" cy="109728"/>
          </a:xfrm>
          <a:prstGeom prst="roundRect">
            <a:avLst/>
          </a:prstGeom>
          <a:solidFill>
            <a:srgbClr val="D95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" y="3666744"/>
            <a:ext cx="10296144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49343D"/>
                </a:solidFill>
                <a:latin typeface="Arial"/>
              </a:defRPr>
            </a:pPr>
            <a:r>
              <a:t>Màu hồng pastel thể hiện phong cách nhẹ nhàng, trẻ trung.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44568"/>
            <a:ext cx="109728" cy="109728"/>
          </a:xfrm>
          <a:prstGeom prst="roundRect">
            <a:avLst/>
          </a:prstGeom>
          <a:solidFill>
            <a:srgbClr val="D95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4471416"/>
            <a:ext cx="10296144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49343D"/>
                </a:solidFill>
                <a:latin typeface="Arial"/>
              </a:defRPr>
            </a:pPr>
            <a:r>
              <a:t>Dễ phân chia công việc và giải thích nền tảng lập trình web.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FFD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D95A87"/>
                </a:solidFill>
                <a:latin typeface="Arial"/>
              </a:defRPr>
            </a:pPr>
            <a:r>
              <a:t>BÀI TẬP NHÓM • THIẾT KẾ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49343D"/>
                </a:solidFill>
                <a:latin typeface="Arial"/>
              </a:defRPr>
            </a:pPr>
            <a:r>
              <a:t>Mục tiêu rõ ràng, phạm vi vừa sức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45936"/>
            <a:ext cx="10972800" cy="18288"/>
          </a:xfrm>
          <a:prstGeom prst="rect">
            <a:avLst/>
          </a:prstGeom>
          <a:solidFill>
            <a:srgbClr val="FFD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765C67"/>
                </a:solidFill>
                <a:latin typeface="Arial"/>
              </a:defRPr>
            </a:pPr>
            <a:r>
              <a:t>sisimimi  /  Thế giới nhỏ dành cho bé yêu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D95A87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057400"/>
            <a:ext cx="3502152" cy="35935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D95A87"/>
                </a:solidFill>
                <a:latin typeface="Arial"/>
              </a:defRPr>
            </a:pPr>
            <a:r>
              <a:t>11 trang riêng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53512"/>
            <a:ext cx="301752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49343D"/>
                </a:solidFill>
                <a:latin typeface="Arial"/>
              </a:defRPr>
            </a:pPr>
            <a:r>
              <a:t>Mỗi trang là một tệp HTML có nội dung, tiêu đề và nhiệm vụ riêng.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6824" y="2057400"/>
            <a:ext cx="3502152" cy="35935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4" y="2313432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D95A87"/>
                </a:solidFill>
                <a:latin typeface="Arial"/>
              </a:defRPr>
            </a:pPr>
            <a:r>
              <a:t>Tương tác cơ bản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2953512"/>
            <a:ext cx="301752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49343D"/>
                </a:solidFill>
                <a:latin typeface="Arial"/>
              </a:defRPr>
            </a:pPr>
            <a:r>
              <a:t>Tìm/lọc, chi tiết theo ID, giỏ hàng dùng chung và kiểm tra biểu mẫu.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9288" y="2057400"/>
            <a:ext cx="3502152" cy="35935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2313432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D95A87"/>
                </a:solidFill>
                <a:latin typeface="Arial"/>
              </a:defRPr>
            </a:pPr>
            <a:r>
              <a:t>Phạm vi bài tập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953512"/>
            <a:ext cx="301752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49343D"/>
                </a:solidFill>
                <a:latin typeface="Arial"/>
              </a:defRPr>
            </a:pPr>
            <a:r>
              <a:t>Không database, xác thực, email hoặc thanh toán thật; mọi luồng gửi đều mô phỏng.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FFD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D95A87"/>
                </a:solidFill>
                <a:latin typeface="Arial"/>
              </a:defRPr>
            </a:pPr>
            <a:r>
              <a:t>BÀI TẬP NHÓM • THIẾT KẾ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49343D"/>
                </a:solidFill>
                <a:latin typeface="Arial"/>
              </a:defRPr>
            </a:pPr>
            <a:r>
              <a:t>Ba công nghệ, ba vai trò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45936"/>
            <a:ext cx="10972800" cy="18288"/>
          </a:xfrm>
          <a:prstGeom prst="rect">
            <a:avLst/>
          </a:prstGeom>
          <a:solidFill>
            <a:srgbClr val="FFD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765C67"/>
                </a:solidFill>
                <a:latin typeface="Arial"/>
              </a:defRPr>
            </a:pPr>
            <a:r>
              <a:t>sisimimi  /  Thế giới nhỏ dành cho bé yêu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D95A87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057400"/>
            <a:ext cx="3502152" cy="35935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D95A87"/>
                </a:solidFill>
                <a:latin typeface="Arial"/>
              </a:defRPr>
            </a:pPr>
            <a:r>
              <a:t>HTML5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53512"/>
            <a:ext cx="301752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49343D"/>
                </a:solidFill>
                <a:latin typeface="Arial"/>
              </a:defRPr>
            </a:pPr>
            <a:r>
              <a:t>Cấu trúc nội dung</a:t>
            </a:r>
          </a:p>
          <a:p>
            <a:pPr>
              <a:spcAft>
                <a:spcPts val="1200"/>
              </a:spcAft>
              <a:defRPr sz="1900" b="0">
                <a:solidFill>
                  <a:srgbClr val="49343D"/>
                </a:solidFill>
                <a:latin typeface="Arial"/>
              </a:defRPr>
            </a:pPr>
            <a:r>
              <a:t>header · nav · main</a:t>
            </a:r>
          </a:p>
          <a:p>
            <a:pPr>
              <a:spcAft>
                <a:spcPts val="1200"/>
              </a:spcAft>
              <a:defRPr sz="1900" b="0">
                <a:solidFill>
                  <a:srgbClr val="49343D"/>
                </a:solidFill>
                <a:latin typeface="Arial"/>
              </a:defRPr>
            </a:pPr>
            <a:r>
              <a:t>section · article · form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6824" y="2057400"/>
            <a:ext cx="3502152" cy="35935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4" y="2313432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D95A87"/>
                </a:solidFill>
                <a:latin typeface="Arial"/>
              </a:defRPr>
            </a:pPr>
            <a:r>
              <a:t>CSS3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2953512"/>
            <a:ext cx="301752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49343D"/>
                </a:solidFill>
                <a:latin typeface="Arial"/>
              </a:defRPr>
            </a:pPr>
            <a:r>
              <a:t>Màu sắc và bố cục</a:t>
            </a:r>
          </a:p>
          <a:p>
            <a:pPr>
              <a:spcAft>
                <a:spcPts val="1200"/>
              </a:spcAft>
              <a:defRPr sz="1900" b="0">
                <a:solidFill>
                  <a:srgbClr val="49343D"/>
                </a:solidFill>
                <a:latin typeface="Arial"/>
              </a:defRPr>
            </a:pPr>
            <a:r>
              <a:t>Flexbox · Grid</a:t>
            </a:r>
          </a:p>
          <a:p>
            <a:pPr>
              <a:spcAft>
                <a:spcPts val="1200"/>
              </a:spcAft>
              <a:defRPr sz="1900" b="0">
                <a:solidFill>
                  <a:srgbClr val="49343D"/>
                </a:solidFill>
                <a:latin typeface="Arial"/>
              </a:defRPr>
            </a:pPr>
            <a:r>
              <a:t>Responsive · transition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9288" y="2057400"/>
            <a:ext cx="3502152" cy="35935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2313432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D95A87"/>
                </a:solidFill>
                <a:latin typeface="Arial"/>
              </a:defRPr>
            </a:pPr>
            <a:r>
              <a:t>JavaScript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953512"/>
            <a:ext cx="301752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49343D"/>
                </a:solidFill>
                <a:latin typeface="Arial"/>
              </a:defRPr>
            </a:pPr>
            <a:r>
              <a:t>Hành vi ở trình duyệt</a:t>
            </a:r>
          </a:p>
          <a:p>
            <a:pPr>
              <a:spcAft>
                <a:spcPts val="1200"/>
              </a:spcAft>
              <a:defRPr sz="1900" b="0">
                <a:solidFill>
                  <a:srgbClr val="49343D"/>
                </a:solidFill>
                <a:latin typeface="Arial"/>
              </a:defRPr>
            </a:pPr>
            <a:r>
              <a:t>Sự kiện · mảng/object</a:t>
            </a:r>
          </a:p>
          <a:p>
            <a:pPr>
              <a:spcAft>
                <a:spcPts val="1200"/>
              </a:spcAft>
              <a:defRPr sz="1900" b="0">
                <a:solidFill>
                  <a:srgbClr val="49343D"/>
                </a:solidFill>
                <a:latin typeface="Arial"/>
              </a:defRPr>
            </a:pPr>
            <a:r>
              <a:t>URL ID · localStorage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FFD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D95A87"/>
                </a:solidFill>
                <a:latin typeface="Arial"/>
              </a:defRPr>
            </a:pPr>
            <a:r>
              <a:t>BÀI TẬP NHÓM • THIẾT KẾ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49343D"/>
                </a:solidFill>
                <a:latin typeface="Arial"/>
              </a:defRPr>
            </a:pPr>
            <a:r>
              <a:t>Cấu trúc thư mục dễ tìm, dễ sửa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45936"/>
            <a:ext cx="10972800" cy="18288"/>
          </a:xfrm>
          <a:prstGeom prst="rect">
            <a:avLst/>
          </a:prstGeom>
          <a:solidFill>
            <a:srgbClr val="FFD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765C67"/>
                </a:solidFill>
                <a:latin typeface="Arial"/>
              </a:defRPr>
            </a:pPr>
            <a:r>
              <a:t>sisimimi  /  Thế giới nhỏ dành cho bé yêu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D95A87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38528"/>
            <a:ext cx="4754880" cy="3977639"/>
          </a:xfrm>
          <a:prstGeom prst="roundRect">
            <a:avLst/>
          </a:prstGeom>
          <a:solidFill>
            <a:srgbClr val="493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76272"/>
            <a:ext cx="42519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200" b="0">
                <a:solidFill>
                  <a:srgbClr val="FFFFFF"/>
                </a:solidFill>
                <a:latin typeface="Arial"/>
              </a:defRPr>
            </a:pPr>
            <a:r>
              <a:rPr sz="1800"/>
              <a:t>sisimimi/</a:t>
            </a:r>
          </a:p>
          <a:p>
            <a:pPr>
              <a:spcAft>
                <a:spcPts val="700"/>
              </a:spcAft>
              <a:defRPr sz="2200" b="0">
                <a:solidFill>
                  <a:srgbClr val="FFFFFF"/>
                </a:solidFill>
                <a:latin typeface="Arial"/>
              </a:defRPr>
            </a:pPr>
            <a:r>
              <a:rPr sz="1800"/>
              <a:t>  11 tệp HTML</a:t>
            </a:r>
          </a:p>
          <a:p>
            <a:pPr>
              <a:spcAft>
                <a:spcPts val="700"/>
              </a:spcAft>
              <a:defRPr sz="2200" b="0">
                <a:solidFill>
                  <a:srgbClr val="FFFFFF"/>
                </a:solidFill>
                <a:latin typeface="Arial"/>
              </a:defRPr>
            </a:pPr>
            <a:r>
              <a:rPr sz="1800"/>
              <a:t>  css/style.css</a:t>
            </a:r>
          </a:p>
          <a:p>
            <a:pPr>
              <a:spcAft>
                <a:spcPts val="700"/>
              </a:spcAft>
              <a:defRPr sz="2200" b="0">
                <a:solidFill>
                  <a:srgbClr val="FFFFFF"/>
                </a:solidFill>
                <a:latin typeface="Arial"/>
              </a:defRPr>
            </a:pPr>
            <a:r>
              <a:rPr sz="1800"/>
              <a:t>  js/products.js
  js/cart.js
  js/main.js</a:t>
            </a:r>
          </a:p>
          <a:p>
            <a:pPr>
              <a:spcAft>
                <a:spcPts val="700"/>
              </a:spcAft>
              <a:defRPr sz="2200" b="0">
                <a:solidFill>
                  <a:srgbClr val="FFFFFF"/>
                </a:solidFill>
                <a:latin typeface="Arial"/>
              </a:defRPr>
            </a:pPr>
            <a:r>
              <a:rPr sz="1800"/>
              <a:t>  images/</a:t>
            </a:r>
          </a:p>
          <a:p>
            <a:pPr>
              <a:spcAft>
                <a:spcPts val="700"/>
              </a:spcAft>
              <a:defRPr sz="2200" b="0">
                <a:solidFill>
                  <a:srgbClr val="FFFFFF"/>
                </a:solidFill>
                <a:latin typeface="Arial"/>
              </a:defRPr>
            </a:pPr>
            <a:r>
              <a:rPr sz="1800"/>
              <a:t>  docs/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2103120"/>
            <a:ext cx="557784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49343D"/>
                </a:solidFill>
                <a:latin typeface="Arial"/>
              </a:defRPr>
            </a:pPr>
            <a:r>
              <a:t>HTML: nội dung riêng từng trang.</a:t>
            </a:r>
          </a:p>
          <a:p>
            <a:pPr>
              <a:spcAft>
                <a:spcPts val="1200"/>
              </a:spcAft>
              <a:defRPr sz="2100" b="0">
                <a:solidFill>
                  <a:srgbClr val="49343D"/>
                </a:solidFill>
                <a:latin typeface="Arial"/>
              </a:defRPr>
            </a:pPr>
            <a:r>
              <a:t>CSS: giao diện chung toàn website.</a:t>
            </a:r>
          </a:p>
          <a:p>
            <a:pPr>
              <a:spcAft>
                <a:spcPts val="1200"/>
              </a:spcAft>
              <a:defRPr sz="2100" b="0">
                <a:solidFill>
                  <a:srgbClr val="49343D"/>
                </a:solidFill>
                <a:latin typeface="Arial"/>
              </a:defRPr>
            </a:pPr>
            <a:r>
              <a:t>3 script: dữ liệu, giỏ, tương tác.</a:t>
            </a:r>
          </a:p>
          <a:p>
            <a:pPr>
              <a:spcAft>
                <a:spcPts val="1200"/>
              </a:spcAft>
              <a:defRPr sz="2100" b="0">
                <a:solidFill>
                  <a:srgbClr val="49343D"/>
                </a:solidFill>
                <a:latin typeface="Arial"/>
              </a:defRPr>
            </a:pPr>
            <a:r>
              <a:t>Ảnh: 12 PNG sản phẩm + hero-dogs.png.
4 SVG: logo và 3 chân dung đội ngũ.</a:t>
            </a:r>
          </a:p>
          <a:p>
            <a:pPr>
              <a:spcAft>
                <a:spcPts val="1200"/>
              </a:spcAft>
              <a:defRPr sz="2100" b="0">
                <a:solidFill>
                  <a:srgbClr val="49343D"/>
                </a:solidFill>
                <a:latin typeface="Arial"/>
              </a:defRPr>
            </a:pPr>
            <a:r>
              <a:t>Tài liệu: hướng dẫn, báo cáo, phân công.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FFD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D95A87"/>
                </a:solidFill>
                <a:latin typeface="Arial"/>
              </a:defRPr>
            </a:pPr>
            <a:r>
              <a:t>BÀI TẬP NHÓM • THIẾT KẾ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49343D"/>
                </a:solidFill>
                <a:latin typeface="Arial"/>
              </a:defRPr>
            </a:pPr>
            <a:r>
              <a:t>Các trang kết nối thành một luồng sử dụng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45936"/>
            <a:ext cx="10972800" cy="18288"/>
          </a:xfrm>
          <a:prstGeom prst="rect">
            <a:avLst/>
          </a:prstGeom>
          <a:solidFill>
            <a:srgbClr val="FFD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765C67"/>
                </a:solidFill>
                <a:latin typeface="Arial"/>
              </a:defRPr>
            </a:pPr>
            <a:r>
              <a:t>sisimimi  /  Thế giới nhỏ dành cho bé yêu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D95A87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39112"/>
            <a:ext cx="2240280" cy="640080"/>
          </a:xfrm>
          <a:prstGeom prst="roundRect">
            <a:avLst/>
          </a:prstGeom>
          <a:solidFill>
            <a:srgbClr val="FFD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221992"/>
            <a:ext cx="187451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49343D"/>
                </a:solidFill>
                <a:latin typeface="Arial"/>
              </a:defRPr>
            </a:pPr>
            <a:r>
              <a:t>TRANG CHỦ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039112"/>
            <a:ext cx="333756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2267712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49343D"/>
                </a:solidFill>
                <a:latin typeface="Arial"/>
              </a:defRPr>
            </a:pPr>
            <a:r>
              <a:t>Sản phẩm → Chi tiết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2039112"/>
            <a:ext cx="420624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79" y="2267712"/>
            <a:ext cx="38404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49343D"/>
                </a:solidFill>
                <a:latin typeface="Arial"/>
              </a:defRPr>
            </a:pPr>
            <a:r>
              <a:t>Giỏ → Xác nhận mô phỏng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3246120"/>
            <a:ext cx="333756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347472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49343D"/>
                </a:solidFill>
                <a:latin typeface="Arial"/>
              </a:defRPr>
            </a:pPr>
            <a:r>
              <a:t>Tin tức → Bài viết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3246120"/>
            <a:ext cx="420624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3474720"/>
            <a:ext cx="38404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49343D"/>
                </a:solidFill>
                <a:latin typeface="Arial"/>
              </a:defRPr>
            </a:pPr>
            <a:r>
              <a:t>Liên hệ · FAQ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37560" y="4462272"/>
            <a:ext cx="333756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4690872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49343D"/>
                </a:solidFill>
                <a:latin typeface="Arial"/>
              </a:defRPr>
            </a:pPr>
            <a:r>
              <a:t>Giới thiệu · Tuyển dụng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4462272"/>
            <a:ext cx="420624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79" y="4690872"/>
            <a:ext cx="38404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49343D"/>
                </a:solidFill>
                <a:latin typeface="Arial"/>
              </a:defRPr>
            </a:pPr>
            <a:r>
              <a:t>Tài khoản mô phỏng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218688"/>
            <a:ext cx="21488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765C67"/>
                </a:solidFill>
                <a:latin typeface="Arial"/>
              </a:defRPr>
            </a:pPr>
            <a:r>
              <a:t>Menu và footer</a:t>
            </a:r>
          </a:p>
          <a:p>
            <a:pPr>
              <a:spcAft>
                <a:spcPts val="1200"/>
              </a:spcAft>
              <a:defRPr sz="1900" b="0">
                <a:solidFill>
                  <a:srgbClr val="765C67"/>
                </a:solidFill>
                <a:latin typeface="Arial"/>
              </a:defRPr>
            </a:pPr>
            <a:r>
              <a:t>giúp chuyển giữa</a:t>
            </a:r>
          </a:p>
          <a:p>
            <a:pPr>
              <a:spcAft>
                <a:spcPts val="1200"/>
              </a:spcAft>
              <a:defRPr sz="1900" b="0">
                <a:solidFill>
                  <a:srgbClr val="765C67"/>
                </a:solidFill>
                <a:latin typeface="Arial"/>
              </a:defRPr>
            </a:pPr>
            <a:r>
              <a:t>các trang chính.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5650992"/>
            <a:ext cx="8046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765C67"/>
                </a:solidFill>
                <a:latin typeface="Arial"/>
              </a:defRPr>
            </a:pPr>
            <a:r>
              <a:t>Chi tiết sản phẩm và bài viết được chọn bằng ?id=… trên URL.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FFD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D95A87"/>
                </a:solidFill>
                <a:latin typeface="Arial"/>
              </a:defRPr>
            </a:pPr>
            <a:r>
              <a:t>BÀI TẬP NHÓM • THIẾT KẾ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49343D"/>
                </a:solidFill>
                <a:latin typeface="Arial"/>
              </a:defRPr>
            </a:pPr>
            <a:r>
              <a:t>Giao diện thực tế: trang chủ và sản phẩm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7784" y="1929384"/>
            <a:ext cx="5358384" cy="3803904"/>
          </a:xfrm>
          <a:prstGeom prst="roundRect">
            <a:avLst/>
          </a:prstGeom>
          <a:solidFill>
            <a:srgbClr val="FFD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5843016"/>
            <a:ext cx="5285232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D95A87"/>
                </a:solidFill>
                <a:latin typeface="Arial"/>
              </a:defRPr>
            </a:pPr>
            <a:r>
              <a:t>01 / TRANG CHỦ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18504" y="1929384"/>
            <a:ext cx="5358384" cy="3803904"/>
          </a:xfrm>
          <a:prstGeom prst="roundRect">
            <a:avLst/>
          </a:prstGeom>
          <a:solidFill>
            <a:srgbClr val="FFD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5843016"/>
            <a:ext cx="5285232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D95A87"/>
                </a:solidFill>
                <a:latin typeface="Arial"/>
              </a:defRPr>
            </a:pPr>
            <a:r>
              <a:t>02 / SẢN PHẨM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172200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765C67"/>
                </a:solidFill>
                <a:latin typeface="Arial"/>
              </a:defRPr>
            </a:pPr>
            <a:r>
              <a:t>Ảnh chụp từ website bằng Chromium, viewport 1280 × 900 px; sản phẩm và thương hiệu là dữ liệu mẫu.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391656"/>
            <a:ext cx="10972800" cy="18288"/>
          </a:xfrm>
          <a:prstGeom prst="rect">
            <a:avLst/>
          </a:prstGeom>
          <a:solidFill>
            <a:srgbClr val="FFD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6492240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765C67"/>
                </a:solidFill>
                <a:latin typeface="Arial"/>
              </a:defRPr>
            </a:pPr>
            <a:r>
              <a:t>sisimimi  /  Thế giới nhỏ dành cho bé yêu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D95A87"/>
                </a:solidFill>
                <a:latin typeface="Arial"/>
              </a:defRPr>
            </a:pPr>
            <a:r>
              <a:t>08</a:t>
            </a:r>
          </a:p>
        </p:txBody>
      </p:sp>
      <p:pic>
        <p:nvPicPr>
          <p:cNvPr id="15" name="Picture 14" descr="giao-dien-trang-ch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1965960"/>
            <a:ext cx="5285232" cy="3716121"/>
          </a:xfrm>
          <a:prstGeom prst="rect">
            <a:avLst/>
          </a:prstGeom>
        </p:spPr>
      </p:pic>
      <p:pic>
        <p:nvPicPr>
          <p:cNvPr id="16" name="Picture 15" descr="giao-dien-san-pha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1965960"/>
            <a:ext cx="5285232" cy="371612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FFD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D95A87"/>
                </a:solidFill>
                <a:latin typeface="Arial"/>
              </a:defRPr>
            </a:pPr>
            <a:r>
              <a:t>BÀI TẬP NHÓM • THIẾT KẾ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49343D"/>
                </a:solidFill>
                <a:latin typeface="Arial"/>
              </a:defRPr>
            </a:pPr>
            <a:r>
              <a:t>Từ danh sách đến chi tiết đúng sản phẩm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45936"/>
            <a:ext cx="10972800" cy="18288"/>
          </a:xfrm>
          <a:prstGeom prst="rect">
            <a:avLst/>
          </a:prstGeom>
          <a:solidFill>
            <a:srgbClr val="FFD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765C67"/>
                </a:solidFill>
                <a:latin typeface="Arial"/>
              </a:defRPr>
            </a:pPr>
            <a:r>
              <a:t>sisimimi  /  Thế giới nhỏ dành cho bé yêu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D95A87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057400"/>
            <a:ext cx="3502152" cy="35935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D95A87"/>
                </a:solidFill>
                <a:latin typeface="Arial"/>
              </a:defRPr>
            </a:pPr>
            <a:r>
              <a:t>Một nguồn dữ liệu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53512"/>
            <a:ext cx="301752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49343D"/>
                </a:solidFill>
                <a:latin typeface="Arial"/>
              </a:defRPr>
            </a:pPr>
            <a:r>
              <a:t>products.js chứa dữ liệu, tên danh mục, định dạng tiền và hàm tìm theo ID.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6824" y="2057400"/>
            <a:ext cx="3502152" cy="35935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4" y="2313432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D95A87"/>
                </a:solidFill>
                <a:latin typeface="Arial"/>
              </a:defRPr>
            </a:pPr>
            <a:r>
              <a:t>Tìm kiếm + lọc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2953512"/>
            <a:ext cx="301752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49343D"/>
                </a:solidFill>
                <a:latin typeface="Arial"/>
              </a:defRPr>
            </a:pPr>
            <a:r>
              <a:t>Card có sẵn trong HTML; main.js ẩn/hiện product-wrapper theo từ khóa và danh mục.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9288" y="2057400"/>
            <a:ext cx="3502152" cy="35935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2313432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D95A87"/>
                </a:solidFill>
                <a:latin typeface="Arial"/>
              </a:defRPr>
            </a:pPr>
            <a:r>
              <a:t>ID trên URL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953512"/>
            <a:ext cx="301752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49343D"/>
                </a:solidFill>
                <a:latin typeface="Arial"/>
              </a:defRPr>
            </a:pPr>
            <a:r>
              <a:t>main.js đọc ?id=1, hiện đúng nội dung và tối đa 4 sản phẩm liên quan; ID lạ có thông báo.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FFD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D95A87"/>
                </a:solidFill>
                <a:latin typeface="Arial"/>
              </a:defRPr>
            </a:pPr>
            <a:r>
              <a:t>BÀI TẬP NHÓM • THIẾT KẾ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49343D"/>
                </a:solidFill>
                <a:latin typeface="Arial"/>
              </a:defRPr>
            </a:pPr>
            <a:r>
              <a:t>Giỏ hàng dùng chung, tính toán minh bạch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45936"/>
            <a:ext cx="10972800" cy="18288"/>
          </a:xfrm>
          <a:prstGeom prst="rect">
            <a:avLst/>
          </a:prstGeom>
          <a:solidFill>
            <a:srgbClr val="FFD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765C67"/>
                </a:solidFill>
                <a:latin typeface="Arial"/>
              </a:defRPr>
            </a:pPr>
            <a:r>
              <a:t>sisimimi  /  Thế giới nhỏ dành cho bé yêu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D95A87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6126480" cy="3520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240280"/>
            <a:ext cx="5577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D95A87"/>
                </a:solidFill>
                <a:latin typeface="Arial"/>
              </a:defRPr>
            </a:pPr>
            <a:r>
              <a:t>Ví dụ demo với giá mẫu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926080"/>
            <a:ext cx="55778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0">
                <a:solidFill>
                  <a:srgbClr val="49343D"/>
                </a:solidFill>
                <a:latin typeface="Arial"/>
              </a:defRPr>
            </a:pPr>
            <a:r>
              <a:t>2 vòng cổ + 1 áo hoodie = 337.000 ₫</a:t>
            </a:r>
          </a:p>
          <a:p>
            <a:pPr>
              <a:spcAft>
                <a:spcPts val="1200"/>
              </a:spcAft>
              <a:defRPr sz="2400" b="0">
                <a:solidFill>
                  <a:srgbClr val="49343D"/>
                </a:solidFill>
                <a:latin typeface="Arial"/>
              </a:defRPr>
            </a:pPr>
            <a:r>
              <a:t>Tăng áo lên 2 = 496.000 ₫</a:t>
            </a:r>
          </a:p>
          <a:p>
            <a:pPr>
              <a:spcAft>
                <a:spcPts val="1200"/>
              </a:spcAft>
              <a:defRPr sz="2400" b="0">
                <a:solidFill>
                  <a:srgbClr val="49343D"/>
                </a:solidFill>
                <a:latin typeface="Arial"/>
              </a:defRPr>
            </a:pPr>
            <a:r>
              <a:t>Xóa vòng cổ = 318.000 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2240280"/>
            <a:ext cx="420624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49343D"/>
                </a:solidFill>
                <a:latin typeface="Arial"/>
              </a:defRPr>
            </a:pPr>
            <a:r>
              <a:t>Chỉ lưu ID + số lượng.</a:t>
            </a:r>
          </a:p>
          <a:p>
            <a:pPr>
              <a:spcAft>
                <a:spcPts val="1200"/>
              </a:spcAft>
              <a:defRPr sz="2100" b="0">
                <a:solidFill>
                  <a:srgbClr val="49343D"/>
                </a:solidFill>
                <a:latin typeface="Arial"/>
              </a:defRPr>
            </a:pPr>
            <a:r>
              <a:t>Giá đọc từ dữ liệu chung.</a:t>
            </a:r>
          </a:p>
          <a:p>
            <a:pPr>
              <a:spcAft>
                <a:spcPts val="1200"/>
              </a:spcAft>
              <a:defRPr sz="2100" b="0">
                <a:solidFill>
                  <a:srgbClr val="49343D"/>
                </a:solidFill>
                <a:latin typeface="Arial"/>
              </a:defRPr>
            </a:pPr>
            <a:r>
              <a:t>Tải lại giữ giỏ tại cùng origin.</a:t>
            </a:r>
          </a:p>
          <a:p>
            <a:pPr>
              <a:spcAft>
                <a:spcPts val="1200"/>
              </a:spcAft>
              <a:defRPr sz="2100" b="0">
                <a:solidFill>
                  <a:srgbClr val="49343D"/>
                </a:solidFill>
                <a:latin typeface="Arial"/>
              </a:defRPr>
            </a:pPr>
            <a:r>
              <a:t>Xác nhận là mô phỏng, không thu tiền.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FFD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D95A87"/>
                </a:solidFill>
                <a:latin typeface="Arial"/>
              </a:defRPr>
            </a:pPr>
            <a:r>
              <a:t>BÀI TẬP NHÓM • THIẾT KẾ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49343D"/>
                </a:solidFill>
                <a:latin typeface="Arial"/>
              </a:defRPr>
            </a:pPr>
            <a:r>
              <a:t>Biểu mẫu và tương tác nhỏ, rõ ràng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45936"/>
            <a:ext cx="10972800" cy="18288"/>
          </a:xfrm>
          <a:prstGeom prst="rect">
            <a:avLst/>
          </a:prstGeom>
          <a:solidFill>
            <a:srgbClr val="FFD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765C67"/>
                </a:solidFill>
                <a:latin typeface="Arial"/>
              </a:defRPr>
            </a:pPr>
            <a:r>
              <a:t>sisimimi  /  Thế giới nhỏ dành cho bé yêu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D95A87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057400"/>
            <a:ext cx="3502152" cy="35935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D95A87"/>
                </a:solidFill>
                <a:latin typeface="Arial"/>
              </a:defRPr>
            </a:pPr>
            <a:r>
              <a:t>Kiểm tra dữ liệu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53512"/>
            <a:ext cx="301752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49343D"/>
                </a:solidFill>
                <a:latin typeface="Arial"/>
              </a:defRPr>
            </a:pPr>
            <a:r>
              <a:t>Trường bắt buộc, email, điện thoại, khoảng trắng và xác nhận mật khẩu.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6824" y="2057400"/>
            <a:ext cx="3502152" cy="35935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4" y="2313432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D95A87"/>
                </a:solidFill>
                <a:latin typeface="Arial"/>
              </a:defRPr>
            </a:pPr>
            <a:r>
              <a:t>Tương tác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2953512"/>
            <a:ext cx="301752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49343D"/>
                </a:solidFill>
                <a:latin typeface="Arial"/>
              </a:defRPr>
            </a:pPr>
            <a:r>
              <a:t>Chuyển tab tài khoản, chọn việc ứng tuyển, menu di động và FAQ details/summary.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9288" y="2057400"/>
            <a:ext cx="3502152" cy="35935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2313432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D95A87"/>
                </a:solidFill>
                <a:latin typeface="Arial"/>
              </a:defRPr>
            </a:pPr>
            <a:r>
              <a:t>Mô phỏng minh bạch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953512"/>
            <a:ext cx="301752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49343D"/>
                </a:solidFill>
                <a:latin typeface="Arial"/>
              </a:defRPr>
            </a:pPr>
            <a:r>
              <a:t>Không gửi email hoặc CV. Không tạo tài khoản. Không lưu mật khẩu và dữ liệu biểu mẫu.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FFD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D95A87"/>
                </a:solidFill>
                <a:latin typeface="Arial"/>
              </a:defRPr>
            </a:pPr>
            <a:r>
              <a:t>BÀI TẬP NHÓM • THIẾT KẾ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49343D"/>
                </a:solidFill>
                <a:latin typeface="Arial"/>
              </a:defRPr>
            </a:pPr>
            <a:r>
              <a:t>Responsive và kiểm thử cần bằng chứng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45936"/>
            <a:ext cx="10972800" cy="18288"/>
          </a:xfrm>
          <a:prstGeom prst="rect">
            <a:avLst/>
          </a:prstGeom>
          <a:solidFill>
            <a:srgbClr val="FFD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765C67"/>
                </a:solidFill>
                <a:latin typeface="Arial"/>
              </a:defRPr>
            </a:pPr>
            <a:r>
              <a:t>sisimimi  /  Thế giới nhỏ dành cho bé yêu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D95A87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30552"/>
            <a:ext cx="109728" cy="109728"/>
          </a:xfrm>
          <a:prstGeom prst="roundRect">
            <a:avLst/>
          </a:prstGeom>
          <a:solidFill>
            <a:srgbClr val="D95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2057400"/>
            <a:ext cx="10296144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49343D"/>
                </a:solidFill>
                <a:latin typeface="Arial"/>
              </a:defRPr>
            </a:pPr>
            <a:r>
              <a:t>Lưới sản phẩm đổi số cột; ảnh và form thích ứng màn hình hẹp.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35224"/>
            <a:ext cx="109728" cy="109728"/>
          </a:xfrm>
          <a:prstGeom prst="roundRect">
            <a:avLst/>
          </a:prstGeom>
          <a:solidFill>
            <a:srgbClr val="D95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6" y="2862072"/>
            <a:ext cx="10296144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49343D"/>
                </a:solidFill>
                <a:latin typeface="Arial"/>
              </a:defRPr>
            </a:pPr>
            <a:r>
              <a:t>Kiểm tra 11 trang, liên kết, giỏ, biểu mẫu và lỗi Console.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39896"/>
            <a:ext cx="109728" cy="109728"/>
          </a:xfrm>
          <a:prstGeom prst="roundRect">
            <a:avLst/>
          </a:prstGeom>
          <a:solidFill>
            <a:srgbClr val="D95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" y="3666744"/>
            <a:ext cx="10296144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49343D"/>
                </a:solidFill>
                <a:latin typeface="Arial"/>
              </a:defRPr>
            </a:pPr>
            <a:r>
              <a:t>Dùng bàn phím; thử chiều rộng 320, 375, 768 và 1280px.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44568"/>
            <a:ext cx="109728" cy="109728"/>
          </a:xfrm>
          <a:prstGeom prst="roundRect">
            <a:avLst/>
          </a:prstGeom>
          <a:solidFill>
            <a:srgbClr val="D95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4471416"/>
            <a:ext cx="10296144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49343D"/>
                </a:solidFill>
                <a:latin typeface="Arial"/>
              </a:defRPr>
            </a:pPr>
            <a:r>
              <a:t>Xem KIEM_THU.md; nhóm chạy thêm Chrome, Edge và Firefox.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614416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D95A87"/>
                </a:solidFill>
                <a:latin typeface="Arial"/>
              </a:defRPr>
            </a:pPr>
            <a:r>
              <a:t>Không quy kết kiểm thử Chromium là đã chạy mọi trình duyệt hoặc thiết bị thật.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FFD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D95A87"/>
                </a:solidFill>
                <a:latin typeface="Arial"/>
              </a:defRPr>
            </a:pPr>
            <a:r>
              <a:t>BÀI TẬP NHÓM • THIẾT KẾ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49343D"/>
                </a:solidFill>
                <a:latin typeface="Arial"/>
              </a:defRPr>
            </a:pPr>
            <a:r>
              <a:t>Những gì học được và giới hạn của sản phẩm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45936"/>
            <a:ext cx="10972800" cy="18288"/>
          </a:xfrm>
          <a:prstGeom prst="rect">
            <a:avLst/>
          </a:prstGeom>
          <a:solidFill>
            <a:srgbClr val="FFD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765C67"/>
                </a:solidFill>
                <a:latin typeface="Arial"/>
              </a:defRPr>
            </a:pPr>
            <a:r>
              <a:t>sisimimi  /  Thế giới nhỏ dành cho bé yêu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D95A87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057400"/>
            <a:ext cx="3502152" cy="35935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D95A87"/>
                </a:solidFill>
                <a:latin typeface="Arial"/>
              </a:defRPr>
            </a:pPr>
            <a:r>
              <a:t>Khó khăn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53512"/>
            <a:ext cx="301752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49343D"/>
                </a:solidFill>
                <a:latin typeface="Arial"/>
              </a:defRPr>
            </a:pPr>
            <a:r>
              <a:t>Đồng bộ giỏ nhiều trang; dữ liệu lưu hỏng; đường dẫn ảnh; bố cục điện thoại.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6824" y="2057400"/>
            <a:ext cx="3502152" cy="35935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4" y="2313432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D95A87"/>
                </a:solidFill>
                <a:latin typeface="Arial"/>
              </a:defRPr>
            </a:pPr>
            <a:r>
              <a:t>Giải pháp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2953512"/>
            <a:ext cx="301752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49343D"/>
                </a:solidFill>
                <a:latin typeface="Arial"/>
              </a:defRPr>
            </a:pPr>
            <a:r>
              <a:t>Tách 3 script; đồng bộ card HTML; kiểm tra ID/số lượng và sửa lỗi của mẫu tham chiếu.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9288" y="2057400"/>
            <a:ext cx="3502152" cy="35935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2313432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D95A87"/>
                </a:solidFill>
                <a:latin typeface="Arial"/>
              </a:defRPr>
            </a:pPr>
            <a:r>
              <a:t>Giới hạn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953512"/>
            <a:ext cx="301752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49343D"/>
                </a:solidFill>
                <a:latin typeface="Arial"/>
              </a:defRPr>
            </a:pPr>
            <a:r>
              <a:t>Ảnh PNG sản phẩm do AI tạo để minh họa; không chứng thực hàng vật lý. Bản đồ cần mạng. Không có giao dịch thật.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FFD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D95A87"/>
                </a:solidFill>
                <a:latin typeface="Arial"/>
              </a:defRPr>
            </a:pPr>
            <a:r>
              <a:t>BÀI TẬP NHÓM • THIẾT KẾ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49343D"/>
                </a:solidFill>
                <a:latin typeface="Arial"/>
              </a:defRPr>
            </a:pPr>
            <a:r>
              <a:t>Tiếp tục từ nền tảng đã hiểu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45936"/>
            <a:ext cx="10972800" cy="18288"/>
          </a:xfrm>
          <a:prstGeom prst="rect">
            <a:avLst/>
          </a:prstGeom>
          <a:solidFill>
            <a:srgbClr val="FFD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765C67"/>
                </a:solidFill>
                <a:latin typeface="Arial"/>
              </a:defRPr>
            </a:pPr>
            <a:r>
              <a:t>sisimimi  /  Thế giới nhỏ dành cho bé yêu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D95A87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48256"/>
            <a:ext cx="7315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700" b="1">
                <a:solidFill>
                  <a:srgbClr val="D95A87"/>
                </a:solidFill>
                <a:latin typeface="Arial"/>
              </a:defRPr>
            </a:pPr>
            <a:r>
              <a:t>Hướng phát triển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70632"/>
            <a:ext cx="745236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49343D"/>
                </a:solidFill>
                <a:latin typeface="Arial"/>
              </a:defRPr>
            </a:pPr>
            <a:r>
              <a:t>Bổ sung ảnh hàng thật có quyền sử dụng.</a:t>
            </a:r>
          </a:p>
          <a:p>
            <a:pPr>
              <a:spcAft>
                <a:spcPts val="1200"/>
              </a:spcAft>
              <a:defRPr sz="2300" b="0">
                <a:solidFill>
                  <a:srgbClr val="49343D"/>
                </a:solidFill>
                <a:latin typeface="Arial"/>
              </a:defRPr>
            </a:pPr>
            <a:r>
              <a:t>Kiểm tra trợ năng và nhiều thiết bị hơn.</a:t>
            </a:r>
          </a:p>
          <a:p>
            <a:pPr>
              <a:spcAft>
                <a:spcPts val="1200"/>
              </a:spcAft>
              <a:defRPr sz="2300" b="0">
                <a:solidFill>
                  <a:srgbClr val="49343D"/>
                </a:solidFill>
                <a:latin typeface="Arial"/>
              </a:defRPr>
            </a:pPr>
            <a:r>
              <a:t>Backend và thanh toán là dự án mở rộng riêng.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303520"/>
            <a:ext cx="8321040" cy="548640"/>
          </a:xfrm>
          <a:prstGeom prst="roundRect">
            <a:avLst/>
          </a:prstGeom>
          <a:solidFill>
            <a:srgbClr val="FFD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5440680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49343D"/>
                </a:solidFill>
                <a:latin typeface="Arial"/>
              </a:defRPr>
            </a:pPr>
            <a:r>
              <a:t>HTML rõ cấu trúc • CSS đồng bộ • JavaScript dễ giải thích</a:t>
            </a:r>
          </a:p>
        </p:txBody>
      </p:sp>
      <p:sp>
        <p:nvSpPr>
          <p:cNvPr id="12" name="Oval 11"/>
          <p:cNvSpPr/>
          <p:nvPr/>
        </p:nvSpPr>
        <p:spPr>
          <a:xfrm>
            <a:off x="9648748" y="3368649"/>
            <a:ext cx="980236" cy="731520"/>
          </a:xfrm>
          <a:prstGeom prst="ellipse">
            <a:avLst/>
          </a:prstGeom>
          <a:solidFill>
            <a:srgbClr val="D95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253728" y="2944368"/>
            <a:ext cx="409651" cy="512063"/>
          </a:xfrm>
          <a:prstGeom prst="ellipse">
            <a:avLst/>
          </a:prstGeom>
          <a:solidFill>
            <a:srgbClr val="D95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721900" y="2651760"/>
            <a:ext cx="395020" cy="526694"/>
          </a:xfrm>
          <a:prstGeom prst="ellipse">
            <a:avLst/>
          </a:prstGeom>
          <a:solidFill>
            <a:srgbClr val="D95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263225" y="2695651"/>
            <a:ext cx="395020" cy="526694"/>
          </a:xfrm>
          <a:prstGeom prst="ellipse">
            <a:avLst/>
          </a:prstGeom>
          <a:solidFill>
            <a:srgbClr val="D95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716767" y="2988259"/>
            <a:ext cx="395020" cy="512063"/>
          </a:xfrm>
          <a:prstGeom prst="ellipse">
            <a:avLst/>
          </a:prstGeom>
          <a:solidFill>
            <a:srgbClr val="D95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